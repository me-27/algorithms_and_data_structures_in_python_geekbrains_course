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2C99E3-58AD-4078-B56A-07A8A87B5844}">
  <a:tblStyle styleId="{D32C99E3-58AD-4078-B56A-07A8A87B5844}" styleName="Table_0">
    <a:wholeTbl>
      <a:tcTxStyle b="off" i="off">
        <a:font>
          <a:latin typeface="Arial"/>
          <a:ea typeface="Arial"/>
          <a:cs typeface="Arial"/>
        </a:font>
        <a:srgbClr val="2C2D30"/>
      </a:tcTxStyle>
      <a:tcStyle>
        <a:tcBdr>
          <a:left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CF3"/>
          </a:solidFill>
        </a:fill>
      </a:tcStyle>
    </a:wholeTbl>
    <a:band1H>
      <a:tcTxStyle/>
      <a:tcStyle>
        <a:fill>
          <a:solidFill>
            <a:srgbClr val="CAD6E7"/>
          </a:solidFill>
        </a:fill>
      </a:tcStyle>
    </a:band1H>
    <a:band2H>
      <a:tcTxStyle/>
    </a:band2H>
    <a:band1V>
      <a:tcTxStyle/>
      <a:tcStyle>
        <a:fill>
          <a:solidFill>
            <a:srgbClr val="CAD6E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rgbClr val="177BBB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7ECF3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7ECF3"/>
          </a:solidFill>
        </a:fill>
      </a:tcStyle>
    </a:firstRow>
    <a:neCell>
      <a:tcTxStyle/>
    </a:neCell>
    <a:nwCell>
      <a:tcTxStyle/>
    </a:nwCell>
  </a:tblStyle>
  <a:tblStyle styleId="{CC0E3AD8-5069-4F8E-9D5E-1963045CC49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b4ce1f6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b4ce1f6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4ce1f6e_0_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b4ce1f6e_0_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cbc38f8f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3dcbc38f8f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bc38f8f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g3dcbc38f8f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cbc38f8f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g3dcbc38f8f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cf112df0_0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g3dcf112df0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bc38f8f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cbc38f8f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cbc38f8f_0_1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dcbc38f8f_0_1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cbc38f8f_0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dcbc38f8f_0_2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cbc38f8f_0_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cbc38f8f_0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cbc38f8f_0_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cbc38f8f_0_2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cf112df0_0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cf112df0_0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cbc38f8f_0_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cbc38f8f_0_2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cbc38f8f_0_2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dcbc38f8f_0_2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cbc38f8f_0_2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cbc38f8f_0_2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dcceb0f99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cceb0f99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cf112df0_0_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dcf112df0_0_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b4ce1f6e_0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db4ce1f6e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cbc38f8f_0_3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dcbc38f8f_0_3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cc9a33ef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dcc9a33ef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dcf112df0_0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dcf112df0_0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cc9a33ef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cc9a33ef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cf112df0_0_1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dcf112df0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cc9a33ef_0_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cc9a33ef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cf112df0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dcf112df0_0_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cc9a33ef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dcc9a33ef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cc9a33ef_0_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dcc9a33ef_0_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cc9a33ef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dcc9a33ef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cbc38f8f_0_3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dcbc38f8f_0_3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cc9a33ef_0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dcc9a33ef_0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cc9a33ef_0_1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dcc9a33ef_0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cc9a33ef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dcc9a33ef_0_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dcc9a33ef_0_1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dcc9a33ef_0_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cceb0f9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dcceb0f9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cceb0f99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dcceb0f99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dcceb0f99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dcceb0f99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dcceb0f99_0_1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dcceb0f99_0_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dcceb0f99_0_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dcceb0f99_0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cceb0f99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dcceb0f99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dcceb0f99_0_2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dcceb0f99_0_2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dcceb0f99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dcceb0f99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b4ce1f6e_0_2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3db4ce1f6e_0_2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dcceb0f99_0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dcceb0f99_0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dcceb0f99_0_3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g3dcceb0f99_0_3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dcceb0f99_0_3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dcceb0f99_0_3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dcf112df0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g3dcf112df0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b4ce1f6e_0_3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db4ce1f6e_0_3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вертикально" showMasterSp="0" type="tx">
  <p:cSld name="TITLE_AND_BODY">
    <p:bg>
      <p:bgPr>
        <a:solidFill>
          <a:srgbClr val="22222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250531" y="3388816"/>
            <a:ext cx="3536157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377405" y="1896846"/>
            <a:ext cx="3536157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 showMasterSp="0">
  <p:cSld name="Заголовок и пункты">
    <p:bg>
      <p:bgPr>
        <a:solidFill>
          <a:srgbClr val="2222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571172" y="4572010"/>
            <a:ext cx="571202" cy="571501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ading-logo.png"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826" y="4636176"/>
            <a:ext cx="413781" cy="44314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71175" y="-1"/>
            <a:ext cx="571201" cy="190202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 type="title">
  <p:cSld name="TITLE">
    <p:bg>
      <p:bgPr>
        <a:solidFill>
          <a:srgbClr val="22222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горизонтально" showMasterSp="0">
  <p:cSld name="Фото - горизонтально">
    <p:bg>
      <p:bgPr>
        <a:solidFill>
          <a:srgbClr val="22222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cxnSp>
        <p:nvCxnSpPr>
          <p:cNvPr id="29" name="Google Shape;29;p5"/>
          <p:cNvCxnSpPr/>
          <p:nvPr>
            <p:ph idx="1" type="body"/>
          </p:nvPr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5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>
  <p:cSld name="Заголовок и подзаголовок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 flipH="1" rot="10800000">
            <a:off x="1357312" y="3238362"/>
            <a:ext cx="6429376" cy="139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" name="Google Shape;35;p6"/>
          <p:cNvSpPr txBox="1"/>
          <p:nvPr>
            <p:ph type="title"/>
          </p:nvPr>
        </p:nvSpPr>
        <p:spPr>
          <a:xfrm>
            <a:off x="1357312" y="3388816"/>
            <a:ext cx="6429376" cy="14265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1357312" y="2250281"/>
            <a:ext cx="6429376" cy="9510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7558478" y="221009"/>
            <a:ext cx="212578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по центру" showMasterSp="0">
  <p:cSld name="Заголовок - по центру">
    <p:bg>
      <p:bgPr>
        <a:solidFill>
          <a:srgbClr val="22222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1357312" y="2129730"/>
            <a:ext cx="6429376" cy="23842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7575660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вверху">
  <p:cSld name="Заголовок - вверху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, дополн.">
  <p:cSld name="Заголовок и пункты, дополн.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bg>
      <p:bgPr>
        <a:solidFill>
          <a:srgbClr val="22222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2" name="Google Shape;52;p10"/>
          <p:cNvSpPr/>
          <p:nvPr>
            <p:ph idx="2" type="pic"/>
          </p:nvPr>
        </p:nvSpPr>
        <p:spPr>
          <a:xfrm>
            <a:off x="4893468" y="810369"/>
            <a:ext cx="2893220" cy="41121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type="title"/>
          </p:nvPr>
        </p:nvSpPr>
        <p:spPr>
          <a:xfrm>
            <a:off x="1357312" y="810369"/>
            <a:ext cx="3321845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3" type="body"/>
          </p:nvPr>
        </p:nvSpPr>
        <p:spPr>
          <a:xfrm>
            <a:off x="1357312" y="1446609"/>
            <a:ext cx="3321845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1945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21944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21944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1945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bg>
      <p:bgPr>
        <a:solidFill>
          <a:srgbClr val="22222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3 шт." showMasterSp="0">
  <p:cSld name="Фото - 3 шт.">
    <p:bg>
      <p:bgPr>
        <a:solidFill>
          <a:srgbClr val="22222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/>
          <p:nvPr>
            <p:ph idx="2" type="pic"/>
          </p:nvPr>
        </p:nvSpPr>
        <p:spPr>
          <a:xfrm>
            <a:off x="4572398" y="0"/>
            <a:ext cx="3429001" cy="25650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2" name="Google Shape;62;p12"/>
          <p:cNvSpPr/>
          <p:nvPr>
            <p:ph idx="3" type="pic"/>
          </p:nvPr>
        </p:nvSpPr>
        <p:spPr>
          <a:xfrm>
            <a:off x="4572000" y="2585144"/>
            <a:ext cx="3429001" cy="256505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3" name="Google Shape;63;p12"/>
          <p:cNvSpPr/>
          <p:nvPr>
            <p:ph idx="4" type="pic"/>
          </p:nvPr>
        </p:nvSpPr>
        <p:spPr>
          <a:xfrm>
            <a:off x="1143000" y="0"/>
            <a:ext cx="3411141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bg>
      <p:bgPr>
        <a:solidFill>
          <a:srgbClr val="22222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>
            <a:off x="1390798" y="1245691"/>
            <a:ext cx="6362304" cy="2757488"/>
          </a:xfrm>
          <a:custGeom>
            <a:rect b="b" l="l" r="r" t="t"/>
            <a:pathLst>
              <a:path extrusionOk="0" h="120000" w="120000">
                <a:moveTo>
                  <a:pt x="1244" y="0"/>
                </a:moveTo>
                <a:cubicBezTo>
                  <a:pt x="555" y="0"/>
                  <a:pt x="0" y="1283"/>
                  <a:pt x="0" y="2866"/>
                </a:cubicBezTo>
                <a:lnTo>
                  <a:pt x="0" y="104388"/>
                </a:lnTo>
                <a:cubicBezTo>
                  <a:pt x="0" y="105966"/>
                  <a:pt x="555" y="107255"/>
                  <a:pt x="1244" y="107255"/>
                </a:cubicBezTo>
                <a:lnTo>
                  <a:pt x="95716" y="107255"/>
                </a:lnTo>
                <a:lnTo>
                  <a:pt x="99166" y="120000"/>
                </a:lnTo>
                <a:lnTo>
                  <a:pt x="102616" y="107255"/>
                </a:lnTo>
                <a:lnTo>
                  <a:pt x="118755" y="107255"/>
                </a:lnTo>
                <a:cubicBezTo>
                  <a:pt x="119444" y="107255"/>
                  <a:pt x="120000" y="105966"/>
                  <a:pt x="120000" y="104388"/>
                </a:cubicBezTo>
                <a:lnTo>
                  <a:pt x="120000" y="2866"/>
                </a:lnTo>
                <a:cubicBezTo>
                  <a:pt x="120000" y="1283"/>
                  <a:pt x="119444" y="0"/>
                  <a:pt x="118755" y="0"/>
                </a:cubicBezTo>
                <a:lnTo>
                  <a:pt x="12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1611808" y="1533673"/>
            <a:ext cx="5920384" cy="13337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2" type="body"/>
          </p:nvPr>
        </p:nvSpPr>
        <p:spPr>
          <a:xfrm>
            <a:off x="1357312" y="4107656"/>
            <a:ext cx="6429376" cy="49807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3" type="body"/>
          </p:nvPr>
        </p:nvSpPr>
        <p:spPr>
          <a:xfrm>
            <a:off x="1357312" y="240903"/>
            <a:ext cx="5893595" cy="2413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 showMasterSp="0">
  <p:cSld name="Цитата 2">
    <p:bg>
      <p:bgPr>
        <a:solidFill>
          <a:schemeClr val="accen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250531" y="1393031"/>
            <a:ext cx="3536157" cy="19026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3" name="Google Shape;73;p14"/>
          <p:cNvSpPr/>
          <p:nvPr>
            <p:ph idx="2" type="pic"/>
          </p:nvPr>
        </p:nvSpPr>
        <p:spPr>
          <a:xfrm>
            <a:off x="1143000" y="0"/>
            <a:ext cx="2893219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3" type="body"/>
          </p:nvPr>
        </p:nvSpPr>
        <p:spPr>
          <a:xfrm>
            <a:off x="4250531" y="4086324"/>
            <a:ext cx="3536157" cy="498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 showMasterSp="0">
  <p:cSld name="Фото">
    <p:bg>
      <p:bgPr>
        <a:solidFill>
          <a:srgbClr val="22222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">
    <p:bg>
      <p:bgPr>
        <a:solidFill>
          <a:srgbClr val="22222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 2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вертикально" showMasterSp="0" type="tx">
  <p:cSld name="TITLE_AND_BODY">
    <p:bg>
      <p:bgPr>
        <a:solidFill>
          <a:srgbClr val="22222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>
            <p:ph idx="2" type="pic"/>
          </p:nvPr>
        </p:nvSpPr>
        <p:spPr>
          <a:xfrm>
            <a:off x="1143000" y="0"/>
            <a:ext cx="2893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type="title"/>
          </p:nvPr>
        </p:nvSpPr>
        <p:spPr>
          <a:xfrm>
            <a:off x="4250531" y="3388816"/>
            <a:ext cx="35361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4377405" y="1896846"/>
            <a:ext cx="3536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7575660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 showMasterSp="0">
  <p:cSld name="Заголовок и пункты">
    <p:bg>
      <p:bgPr>
        <a:solidFill>
          <a:srgbClr val="2222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1357312" y="810369"/>
            <a:ext cx="6429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1357312" y="1446609"/>
            <a:ext cx="64293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8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6" name="Google Shape;96;p20"/>
          <p:cNvSpPr/>
          <p:nvPr/>
        </p:nvSpPr>
        <p:spPr>
          <a:xfrm>
            <a:off x="571172" y="4572010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ading-logo.png" id="97" name="Google Shape;9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9826" y="4636176"/>
            <a:ext cx="413700" cy="4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/>
          <p:nvPr/>
        </p:nvSpPr>
        <p:spPr>
          <a:xfrm>
            <a:off x="571175" y="-1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 type="title">
  <p:cSld name="TITLE">
    <p:bg>
      <p:bgPr>
        <a:solidFill>
          <a:srgbClr val="22222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1"/>
          <p:cNvCxnSpPr/>
          <p:nvPr/>
        </p:nvCxnSpPr>
        <p:spPr>
          <a:xfrm>
            <a:off x="1357312" y="3238501"/>
            <a:ext cx="6429300" cy="0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2" name="Google Shape;102;p21"/>
          <p:cNvSpPr txBox="1"/>
          <p:nvPr>
            <p:ph type="title"/>
          </p:nvPr>
        </p:nvSpPr>
        <p:spPr>
          <a:xfrm>
            <a:off x="1357312" y="3388816"/>
            <a:ext cx="6429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1357312" y="2250281"/>
            <a:ext cx="64293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7575660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горизонтально" showMasterSp="0">
  <p:cSld name="Фото - горизонтально">
    <p:bg>
      <p:bgPr>
        <a:solidFill>
          <a:srgbClr val="22222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cxnSp>
        <p:nvCxnSpPr>
          <p:cNvPr id="107" name="Google Shape;107;p22"/>
          <p:cNvCxnSpPr/>
          <p:nvPr>
            <p:ph idx="1" type="body"/>
          </p:nvPr>
        </p:nvCxnSpPr>
        <p:spPr>
          <a:xfrm>
            <a:off x="1357312" y="3238501"/>
            <a:ext cx="6429300" cy="0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2"/>
          <p:cNvSpPr txBox="1"/>
          <p:nvPr>
            <p:ph type="title"/>
          </p:nvPr>
        </p:nvSpPr>
        <p:spPr>
          <a:xfrm>
            <a:off x="1357312" y="3388816"/>
            <a:ext cx="6429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3" type="body"/>
          </p:nvPr>
        </p:nvSpPr>
        <p:spPr>
          <a:xfrm>
            <a:off x="1357312" y="2250281"/>
            <a:ext cx="64293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75660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showMasterSp="0">
  <p:cSld name="Заголовок и подзаголовок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23"/>
          <p:cNvCxnSpPr/>
          <p:nvPr/>
        </p:nvCxnSpPr>
        <p:spPr>
          <a:xfrm>
            <a:off x="1357312" y="3238501"/>
            <a:ext cx="6429300" cy="0"/>
          </a:xfrm>
          <a:prstGeom prst="straightConnector1">
            <a:avLst/>
          </a:prstGeom>
          <a:noFill/>
          <a:ln cap="flat" cmpd="sng" w="12700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3" name="Google Shape;113;p23"/>
          <p:cNvSpPr txBox="1"/>
          <p:nvPr>
            <p:ph type="title"/>
          </p:nvPr>
        </p:nvSpPr>
        <p:spPr>
          <a:xfrm>
            <a:off x="1357312" y="3388816"/>
            <a:ext cx="6429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1357312" y="2250281"/>
            <a:ext cx="64293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A6AAA9"/>
              </a:buClr>
              <a:buSzPts val="1680"/>
              <a:buFont typeface="Avenir"/>
              <a:buNone/>
              <a:defRPr b="0" i="0" sz="2600" u="none" cap="none" strike="noStrike">
                <a:solidFill>
                  <a:srgbClr val="A6AAA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7558478" y="221009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по центру" showMasterSp="0">
  <p:cSld name="Заголовок - по центру">
    <p:bg>
      <p:bgPr>
        <a:solidFill>
          <a:srgbClr val="22222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1357312" y="2129730"/>
            <a:ext cx="6429300" cy="23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8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7575660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- вверху">
  <p:cSld name="Заголовок - вверху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1357312" y="240903"/>
            <a:ext cx="5893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1357312" y="810369"/>
            <a:ext cx="6429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, дополн.">
  <p:cSld name="Заголовок и пункты, дополн.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1357312" y="240903"/>
            <a:ext cx="5893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type="title"/>
          </p:nvPr>
        </p:nvSpPr>
        <p:spPr>
          <a:xfrm>
            <a:off x="1357312" y="810369"/>
            <a:ext cx="6429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2" type="body"/>
          </p:nvPr>
        </p:nvSpPr>
        <p:spPr>
          <a:xfrm>
            <a:off x="1357312" y="1446609"/>
            <a:ext cx="64293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8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7" name="Google Shape;127;p26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bg>
      <p:bgPr>
        <a:solidFill>
          <a:srgbClr val="22222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/>
          <p:nvPr>
            <p:ph idx="1" type="body"/>
          </p:nvPr>
        </p:nvSpPr>
        <p:spPr>
          <a:xfrm>
            <a:off x="1357312" y="240903"/>
            <a:ext cx="5893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0" name="Google Shape;130;p27"/>
          <p:cNvSpPr/>
          <p:nvPr>
            <p:ph idx="2" type="pic"/>
          </p:nvPr>
        </p:nvSpPr>
        <p:spPr>
          <a:xfrm>
            <a:off x="4893468" y="810369"/>
            <a:ext cx="2893200" cy="4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type="title"/>
          </p:nvPr>
        </p:nvSpPr>
        <p:spPr>
          <a:xfrm>
            <a:off x="1357312" y="810369"/>
            <a:ext cx="3321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3" type="body"/>
          </p:nvPr>
        </p:nvSpPr>
        <p:spPr>
          <a:xfrm>
            <a:off x="1357312" y="1446609"/>
            <a:ext cx="33219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1944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21944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21944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1944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70"/>
              <a:buFont typeface="Avenir"/>
              <a:buChar char="▸"/>
              <a:defRPr b="0" i="0" sz="14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bg>
      <p:bgPr>
        <a:solidFill>
          <a:srgbClr val="22222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1357312" y="240903"/>
            <a:ext cx="5893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6" name="Google Shape;136;p28"/>
          <p:cNvSpPr txBox="1"/>
          <p:nvPr>
            <p:ph idx="2" type="body"/>
          </p:nvPr>
        </p:nvSpPr>
        <p:spPr>
          <a:xfrm>
            <a:off x="1357312" y="1446609"/>
            <a:ext cx="64293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8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Avenir"/>
              <a:buChar char="▸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- 3 шт." showMasterSp="0">
  <p:cSld name="Фото - 3 шт.">
    <p:bg>
      <p:bgPr>
        <a:solidFill>
          <a:srgbClr val="22222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/>
          <p:nvPr>
            <p:ph idx="2" type="pic"/>
          </p:nvPr>
        </p:nvSpPr>
        <p:spPr>
          <a:xfrm>
            <a:off x="4572398" y="0"/>
            <a:ext cx="34290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0" name="Google Shape;140;p29"/>
          <p:cNvSpPr/>
          <p:nvPr>
            <p:ph idx="3" type="pic"/>
          </p:nvPr>
        </p:nvSpPr>
        <p:spPr>
          <a:xfrm>
            <a:off x="4572000" y="2585144"/>
            <a:ext cx="3429000" cy="2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1" name="Google Shape;141;p29"/>
          <p:cNvSpPr/>
          <p:nvPr>
            <p:ph idx="4" type="pic"/>
          </p:nvPr>
        </p:nvSpPr>
        <p:spPr>
          <a:xfrm>
            <a:off x="1143000" y="0"/>
            <a:ext cx="3411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bg>
      <p:bgPr>
        <a:solidFill>
          <a:srgbClr val="22222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/>
          <p:nvPr/>
        </p:nvSpPr>
        <p:spPr>
          <a:xfrm>
            <a:off x="1390798" y="1245691"/>
            <a:ext cx="6362400" cy="2757600"/>
          </a:xfrm>
          <a:custGeom>
            <a:rect b="b" l="l" r="r" t="t"/>
            <a:pathLst>
              <a:path extrusionOk="0" h="120000" w="120000">
                <a:moveTo>
                  <a:pt x="1244" y="0"/>
                </a:moveTo>
                <a:cubicBezTo>
                  <a:pt x="555" y="0"/>
                  <a:pt x="0" y="1283"/>
                  <a:pt x="0" y="2866"/>
                </a:cubicBezTo>
                <a:lnTo>
                  <a:pt x="0" y="104388"/>
                </a:lnTo>
                <a:cubicBezTo>
                  <a:pt x="0" y="105966"/>
                  <a:pt x="555" y="107255"/>
                  <a:pt x="1244" y="107255"/>
                </a:cubicBezTo>
                <a:lnTo>
                  <a:pt x="95716" y="107255"/>
                </a:lnTo>
                <a:lnTo>
                  <a:pt x="99166" y="120000"/>
                </a:lnTo>
                <a:lnTo>
                  <a:pt x="102616" y="107255"/>
                </a:lnTo>
                <a:lnTo>
                  <a:pt x="118755" y="107255"/>
                </a:lnTo>
                <a:cubicBezTo>
                  <a:pt x="119444" y="107255"/>
                  <a:pt x="120000" y="105966"/>
                  <a:pt x="120000" y="104388"/>
                </a:cubicBezTo>
                <a:lnTo>
                  <a:pt x="120000" y="2866"/>
                </a:lnTo>
                <a:cubicBezTo>
                  <a:pt x="120000" y="1283"/>
                  <a:pt x="119444" y="0"/>
                  <a:pt x="118755" y="0"/>
                </a:cubicBezTo>
                <a:lnTo>
                  <a:pt x="12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1611808" y="1533673"/>
            <a:ext cx="59205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2" type="body"/>
          </p:nvPr>
        </p:nvSpPr>
        <p:spPr>
          <a:xfrm>
            <a:off x="1357312" y="4107656"/>
            <a:ext cx="6429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7" name="Google Shape;147;p30"/>
          <p:cNvSpPr txBox="1"/>
          <p:nvPr>
            <p:ph idx="3" type="body"/>
          </p:nvPr>
        </p:nvSpPr>
        <p:spPr>
          <a:xfrm>
            <a:off x="1357312" y="240903"/>
            <a:ext cx="5893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680"/>
              <a:buFont typeface="Avenir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 showMasterSp="0">
  <p:cSld name="Цитата 2"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4250531" y="1393031"/>
            <a:ext cx="35361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80"/>
              <a:buFont typeface="Avenir"/>
              <a:buNone/>
              <a:defRPr b="0" i="0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1" name="Google Shape;151;p31"/>
          <p:cNvSpPr/>
          <p:nvPr>
            <p:ph idx="2" type="pic"/>
          </p:nvPr>
        </p:nvSpPr>
        <p:spPr>
          <a:xfrm>
            <a:off x="1143000" y="0"/>
            <a:ext cx="2893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2" name="Google Shape;152;p31"/>
          <p:cNvSpPr txBox="1"/>
          <p:nvPr>
            <p:ph idx="3" type="body"/>
          </p:nvPr>
        </p:nvSpPr>
        <p:spPr>
          <a:xfrm>
            <a:off x="4250531" y="4086324"/>
            <a:ext cx="35361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80"/>
              <a:buFont typeface="Avenir"/>
              <a:buNone/>
              <a:defRPr b="0" i="0" sz="3000" u="none" cap="none" strike="noStrike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3" name="Google Shape;153;p31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 showMasterSp="0">
  <p:cSld name="Фото">
    <p:bg>
      <p:bgPr>
        <a:solidFill>
          <a:srgbClr val="22222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09175" lvl="0" marL="2091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09176" lvl="1" marL="653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09176" lvl="2" marL="1098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09176" lvl="3" marL="1542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09176" lvl="4" marL="1987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09176" lvl="5" marL="2431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09176" lvl="6" marL="2876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09176" lvl="7" marL="33206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09176" lvl="8" marL="3765176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">
    <p:bg>
      <p:bgPr>
        <a:solidFill>
          <a:srgbClr val="222222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showMasterSp="0">
  <p:cSld name="Пустой 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 flipH="1" rot="10800000">
            <a:off x="1357312" y="523737"/>
            <a:ext cx="6429376" cy="139"/>
          </a:xfrm>
          <a:prstGeom prst="straightConnector1">
            <a:avLst/>
          </a:prstGeom>
          <a:noFill/>
          <a:ln cap="flat" cmpd="sng" w="9525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" name="Google Shape;7;p1"/>
          <p:cNvSpPr txBox="1"/>
          <p:nvPr>
            <p:ph type="title"/>
          </p:nvPr>
        </p:nvSpPr>
        <p:spPr>
          <a:xfrm>
            <a:off x="1357312" y="810369"/>
            <a:ext cx="6429376" cy="3817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57312" y="1446609"/>
            <a:ext cx="6429376" cy="32213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9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9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9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9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7571537" y="227707"/>
            <a:ext cx="212577" cy="231379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8"/>
          <p:cNvCxnSpPr/>
          <p:nvPr/>
        </p:nvCxnSpPr>
        <p:spPr>
          <a:xfrm>
            <a:off x="1357312" y="523876"/>
            <a:ext cx="6429300" cy="0"/>
          </a:xfrm>
          <a:prstGeom prst="straightConnector1">
            <a:avLst/>
          </a:prstGeom>
          <a:noFill/>
          <a:ln cap="flat" cmpd="sng" w="9525">
            <a:solidFill>
              <a:srgbClr val="A6AAA9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5" name="Google Shape;85;p18"/>
          <p:cNvSpPr txBox="1"/>
          <p:nvPr>
            <p:ph type="title"/>
          </p:nvPr>
        </p:nvSpPr>
        <p:spPr>
          <a:xfrm>
            <a:off x="1357312" y="810369"/>
            <a:ext cx="64293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228600" lvl="1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457200" lvl="2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685800" lvl="3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914400" lvl="4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1143000" lvl="5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1371600" lvl="6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600200" lvl="7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 lvl="8" marL="0" marR="0" rtl="0" algn="l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357312" y="1446609"/>
            <a:ext cx="6429300" cy="3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5278" lvl="0" marL="457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35278" lvl="1" marL="914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35278" lvl="2" marL="1371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35278" lvl="3" marL="1828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35278" lvl="4" marL="22860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35278" lvl="5" marL="27432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35278" lvl="6" marL="32004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35278" lvl="7" marL="36576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35278" lvl="8" marL="411480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38A3D5"/>
              </a:buClr>
              <a:buSzPts val="1680"/>
              <a:buFont typeface="Avenir"/>
              <a:buChar char="‣"/>
              <a:defRPr b="0" i="0" sz="1600" u="none" cap="none" strike="noStrike">
                <a:solidFill>
                  <a:srgbClr val="838787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7571537" y="227707"/>
            <a:ext cx="212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38787"/>
              </a:buClr>
              <a:buFont typeface="Arial"/>
              <a:buNone/>
              <a:defRPr b="0" i="0" sz="1200" u="none" cap="none" strike="noStrike">
                <a:solidFill>
                  <a:srgbClr val="83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ru.wikipedia.org/wiki/%D0%A1%D1%82%D0%B5%D0%BF%D0%B5%D0%BD%D1%8C_(%D1%82%D0%B5%D0%BE%D1%80%D0%B8%D1%8F_%D0%B3%D1%80%D0%B0%D1%84%D0%BE%D0%B2)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DF4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3022500" y="761550"/>
            <a:ext cx="5978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C2CA"/>
              </a:buClr>
              <a:buFont typeface="Arial"/>
              <a:buNone/>
            </a:pPr>
            <a:r>
              <a:rPr lang="en-US" sz="1600">
                <a:solidFill>
                  <a:srgbClr val="BDC2CA"/>
                </a:solidFill>
              </a:rPr>
              <a:t>Алгоритмы и структуры данных на Python. Интерактивный курс </a:t>
            </a:r>
            <a:endParaRPr/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566259" y="1074198"/>
            <a:ext cx="32667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venir"/>
              <a:buNone/>
            </a:pPr>
            <a:r>
              <a:rPr b="1" i="0" lang="en-US" sz="2000" u="none" cap="none" strike="noStrike">
                <a:solidFill>
                  <a:srgbClr val="4C5D6E"/>
                </a:solidFill>
                <a:latin typeface="Arial"/>
                <a:ea typeface="Arial"/>
                <a:cs typeface="Arial"/>
                <a:sym typeface="Arial"/>
              </a:rPr>
              <a:t>Урок 8</a:t>
            </a:r>
            <a:endParaRPr/>
          </a:p>
        </p:txBody>
      </p:sp>
      <p:sp>
        <p:nvSpPr>
          <p:cNvPr id="167" name="Google Shape;167;p35"/>
          <p:cNvSpPr/>
          <p:nvPr/>
        </p:nvSpPr>
        <p:spPr>
          <a:xfrm>
            <a:off x="3566250" y="1905175"/>
            <a:ext cx="4784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4000">
                <a:solidFill>
                  <a:srgbClr val="4C5D6E"/>
                </a:solidFill>
              </a:rPr>
              <a:t>Графы</a:t>
            </a:r>
            <a:endParaRPr/>
          </a:p>
        </p:txBody>
      </p:sp>
      <p:pic>
        <p:nvPicPr>
          <p:cNvPr descr="Python copy.png" id="168" name="Google Shape;1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850" y="1302988"/>
            <a:ext cx="2537526" cy="2537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5"/>
          <p:cNvSpPr/>
          <p:nvPr/>
        </p:nvSpPr>
        <p:spPr>
          <a:xfrm>
            <a:off x="3570400" y="3591300"/>
            <a:ext cx="47841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A8B7"/>
              </a:buClr>
              <a:buFont typeface="Arial"/>
              <a:buNone/>
            </a:pPr>
            <a:r>
              <a:rPr lang="en-US" sz="2400">
                <a:solidFill>
                  <a:srgbClr val="99A8B7"/>
                </a:solidFill>
              </a:rPr>
              <a:t>Алгоритм Дейкстры. Поиск кратчайшего пути в ширину.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175" name="Google Shape;175;p36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Задача о семи мостах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Что такое граф?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Классификация графов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Сферы применения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/>
          <p:nvPr/>
        </p:nvSpPr>
        <p:spPr>
          <a:xfrm>
            <a:off x="4576338" y="1573025"/>
            <a:ext cx="3933600" cy="27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2C2D30"/>
                </a:solidFill>
              </a:rPr>
              <a:t> В </a:t>
            </a:r>
            <a:r>
              <a:rPr lang="en-US" sz="1600">
                <a:solidFill>
                  <a:srgbClr val="2C2D30"/>
                </a:solidFill>
              </a:rPr>
              <a:t>1736 году Леонард Эйлер написал статью «Решение вопроса, связанного с геометрией положения», которая положила начало теории графов как математической дисциплине.</a:t>
            </a:r>
            <a:endParaRPr sz="1600">
              <a:solidFill>
                <a:srgbClr val="2C2D30"/>
              </a:solidFill>
            </a:endParaRPr>
          </a:p>
        </p:txBody>
      </p:sp>
      <p:pic>
        <p:nvPicPr>
          <p:cNvPr id="181" name="Google Shape;1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063" y="1573013"/>
            <a:ext cx="3617026" cy="27127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7"/>
          <p:cNvSpPr/>
          <p:nvPr/>
        </p:nvSpPr>
        <p:spPr>
          <a:xfrm>
            <a:off x="1142400" y="571450"/>
            <a:ext cx="68544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Леонард Эйлер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/>
          <p:nvPr/>
        </p:nvSpPr>
        <p:spPr>
          <a:xfrm>
            <a:off x="1142400" y="571450"/>
            <a:ext cx="6854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</a:t>
            </a:r>
            <a:r>
              <a:rPr lang="en-US" sz="3200">
                <a:solidFill>
                  <a:srgbClr val="4C5D6E"/>
                </a:solidFill>
              </a:rPr>
              <a:t>адача о семи мостах Кёнигсберга</a:t>
            </a:r>
            <a:endParaRPr/>
          </a:p>
        </p:txBody>
      </p:sp>
      <p:pic>
        <p:nvPicPr>
          <p:cNvPr id="188" name="Google Shape;1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00" y="1285950"/>
            <a:ext cx="3559830" cy="326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8"/>
          <p:cNvSpPr txBox="1"/>
          <p:nvPr/>
        </p:nvSpPr>
        <p:spPr>
          <a:xfrm>
            <a:off x="4794575" y="1285975"/>
            <a:ext cx="35598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Как пройти по всем городским мостам, не проходя ни по одному из них дважды?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/>
          <p:nvPr/>
        </p:nvSpPr>
        <p:spPr>
          <a:xfrm>
            <a:off x="1142400" y="571450"/>
            <a:ext cx="6854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Задача о семи мостах Кёнигсберга</a:t>
            </a:r>
            <a:endParaRPr/>
          </a:p>
        </p:txBody>
      </p:sp>
      <p:pic>
        <p:nvPicPr>
          <p:cNvPr id="195" name="Google Shape;1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00" y="1285950"/>
            <a:ext cx="3559830" cy="32655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9"/>
          <p:cNvSpPr txBox="1"/>
          <p:nvPr/>
        </p:nvSpPr>
        <p:spPr>
          <a:xfrm>
            <a:off x="4794575" y="1285975"/>
            <a:ext cx="35598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Каждый участок суши - вершина графа.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197" name="Google Shape;197;p39"/>
          <p:cNvSpPr/>
          <p:nvPr/>
        </p:nvSpPr>
        <p:spPr>
          <a:xfrm>
            <a:off x="1956050" y="171735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1726775" y="38750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9"/>
          <p:cNvSpPr/>
          <p:nvPr/>
        </p:nvSpPr>
        <p:spPr>
          <a:xfrm>
            <a:off x="3637175" y="3340675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1914275" y="27308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0"/>
          <p:cNvSpPr/>
          <p:nvPr/>
        </p:nvSpPr>
        <p:spPr>
          <a:xfrm>
            <a:off x="1142400" y="571450"/>
            <a:ext cx="6854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Задача о семи мостах Кёнигсберга</a:t>
            </a:r>
            <a:endParaRPr/>
          </a:p>
        </p:txBody>
      </p:sp>
      <p:pic>
        <p:nvPicPr>
          <p:cNvPr id="206" name="Google Shape;20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500" y="1285950"/>
            <a:ext cx="3559830" cy="326555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0"/>
          <p:cNvSpPr txBox="1"/>
          <p:nvPr/>
        </p:nvSpPr>
        <p:spPr>
          <a:xfrm>
            <a:off x="4794575" y="1285975"/>
            <a:ext cx="35598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Линий, которые соединяют вершины</a:t>
            </a:r>
            <a:r>
              <a:rPr lang="en-US" sz="1600">
                <a:solidFill>
                  <a:srgbClr val="2C2D30"/>
                </a:solidFill>
              </a:rPr>
              <a:t> - рёбра графа.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208" name="Google Shape;208;p40"/>
          <p:cNvSpPr/>
          <p:nvPr/>
        </p:nvSpPr>
        <p:spPr>
          <a:xfrm>
            <a:off x="1956050" y="171735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1726775" y="38750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3637175" y="3340675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0"/>
          <p:cNvSpPr/>
          <p:nvPr/>
        </p:nvSpPr>
        <p:spPr>
          <a:xfrm>
            <a:off x="1914275" y="27308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0"/>
          <p:cNvSpPr/>
          <p:nvPr/>
        </p:nvSpPr>
        <p:spPr>
          <a:xfrm>
            <a:off x="1903925" y="1854125"/>
            <a:ext cx="115025" cy="933950"/>
          </a:xfrm>
          <a:custGeom>
            <a:rect b="b" l="l" r="r" t="t"/>
            <a:pathLst>
              <a:path extrusionOk="0" h="37358" w="4601">
                <a:moveTo>
                  <a:pt x="4601" y="0"/>
                </a:moveTo>
                <a:cubicBezTo>
                  <a:pt x="4052" y="2701"/>
                  <a:pt x="2038" y="11446"/>
                  <a:pt x="1305" y="16207"/>
                </a:cubicBezTo>
                <a:cubicBezTo>
                  <a:pt x="573" y="20968"/>
                  <a:pt x="-206" y="25043"/>
                  <a:pt x="206" y="28568"/>
                </a:cubicBezTo>
                <a:cubicBezTo>
                  <a:pt x="618" y="32093"/>
                  <a:pt x="3182" y="35893"/>
                  <a:pt x="3777" y="37358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40"/>
          <p:cNvSpPr/>
          <p:nvPr/>
        </p:nvSpPr>
        <p:spPr>
          <a:xfrm>
            <a:off x="2053275" y="1854125"/>
            <a:ext cx="373700" cy="975150"/>
          </a:xfrm>
          <a:custGeom>
            <a:rect b="b" l="l" r="r" t="t"/>
            <a:pathLst>
              <a:path extrusionOk="0" h="39006" w="14948">
                <a:moveTo>
                  <a:pt x="1099" y="0"/>
                </a:moveTo>
                <a:cubicBezTo>
                  <a:pt x="3342" y="3342"/>
                  <a:pt x="13048" y="14513"/>
                  <a:pt x="14559" y="20052"/>
                </a:cubicBezTo>
                <a:cubicBezTo>
                  <a:pt x="16070" y="25592"/>
                  <a:pt x="12591" y="30078"/>
                  <a:pt x="10164" y="33237"/>
                </a:cubicBezTo>
                <a:cubicBezTo>
                  <a:pt x="7738" y="36396"/>
                  <a:pt x="1694" y="38045"/>
                  <a:pt x="0" y="3900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4" name="Google Shape;214;p40"/>
          <p:cNvSpPr/>
          <p:nvPr/>
        </p:nvSpPr>
        <p:spPr>
          <a:xfrm>
            <a:off x="1729953" y="2870475"/>
            <a:ext cx="254650" cy="1085000"/>
          </a:xfrm>
          <a:custGeom>
            <a:rect b="b" l="l" r="r" t="t"/>
            <a:pathLst>
              <a:path extrusionOk="0" h="43400" w="10186">
                <a:moveTo>
                  <a:pt x="10186" y="0"/>
                </a:moveTo>
                <a:cubicBezTo>
                  <a:pt x="8950" y="1923"/>
                  <a:pt x="4464" y="7325"/>
                  <a:pt x="2770" y="11537"/>
                </a:cubicBezTo>
                <a:cubicBezTo>
                  <a:pt x="1076" y="15749"/>
                  <a:pt x="-68" y="19961"/>
                  <a:pt x="23" y="25271"/>
                </a:cubicBezTo>
                <a:cubicBezTo>
                  <a:pt x="115" y="30582"/>
                  <a:pt x="2770" y="40379"/>
                  <a:pt x="3319" y="4340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5" name="Google Shape;215;p40"/>
          <p:cNvSpPr/>
          <p:nvPr/>
        </p:nvSpPr>
        <p:spPr>
          <a:xfrm>
            <a:off x="1861000" y="2884200"/>
            <a:ext cx="340425" cy="1078150"/>
          </a:xfrm>
          <a:custGeom>
            <a:rect b="b" l="l" r="r" t="t"/>
            <a:pathLst>
              <a:path extrusionOk="0" h="43126" w="13617">
                <a:moveTo>
                  <a:pt x="7691" y="0"/>
                </a:moveTo>
                <a:cubicBezTo>
                  <a:pt x="8653" y="2381"/>
                  <a:pt x="12956" y="9523"/>
                  <a:pt x="13460" y="14284"/>
                </a:cubicBezTo>
                <a:cubicBezTo>
                  <a:pt x="13964" y="19045"/>
                  <a:pt x="12956" y="23761"/>
                  <a:pt x="10713" y="28568"/>
                </a:cubicBezTo>
                <a:cubicBezTo>
                  <a:pt x="8470" y="33375"/>
                  <a:pt x="1786" y="40700"/>
                  <a:pt x="0" y="4312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6" name="Google Shape;216;p40"/>
          <p:cNvSpPr/>
          <p:nvPr/>
        </p:nvSpPr>
        <p:spPr>
          <a:xfrm>
            <a:off x="1854125" y="3433575"/>
            <a:ext cx="1854150" cy="1065550"/>
          </a:xfrm>
          <a:custGeom>
            <a:rect b="b" l="l" r="r" t="t"/>
            <a:pathLst>
              <a:path extrusionOk="0" h="42622" w="74166">
                <a:moveTo>
                  <a:pt x="0" y="22799"/>
                </a:moveTo>
                <a:cubicBezTo>
                  <a:pt x="9843" y="26095"/>
                  <a:pt x="48116" y="42210"/>
                  <a:pt x="59058" y="42576"/>
                </a:cubicBezTo>
                <a:cubicBezTo>
                  <a:pt x="70000" y="42942"/>
                  <a:pt x="63132" y="32093"/>
                  <a:pt x="65650" y="24997"/>
                </a:cubicBezTo>
                <a:cubicBezTo>
                  <a:pt x="68168" y="17901"/>
                  <a:pt x="72747" y="4166"/>
                  <a:pt x="74166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7" name="Google Shape;217;p40"/>
          <p:cNvSpPr/>
          <p:nvPr/>
        </p:nvSpPr>
        <p:spPr>
          <a:xfrm>
            <a:off x="2053275" y="2836125"/>
            <a:ext cx="1661850" cy="563125"/>
          </a:xfrm>
          <a:custGeom>
            <a:rect b="b" l="l" r="r" t="t"/>
            <a:pathLst>
              <a:path extrusionOk="0" h="22525" w="66474">
                <a:moveTo>
                  <a:pt x="0" y="0"/>
                </a:moveTo>
                <a:cubicBezTo>
                  <a:pt x="4670" y="2655"/>
                  <a:pt x="21197" y="13231"/>
                  <a:pt x="28018" y="15932"/>
                </a:cubicBezTo>
                <a:cubicBezTo>
                  <a:pt x="34839" y="18633"/>
                  <a:pt x="34519" y="15108"/>
                  <a:pt x="40928" y="16207"/>
                </a:cubicBezTo>
                <a:cubicBezTo>
                  <a:pt x="47337" y="17306"/>
                  <a:pt x="62216" y="21472"/>
                  <a:pt x="66474" y="22525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8" name="Google Shape;218;p40"/>
          <p:cNvSpPr/>
          <p:nvPr/>
        </p:nvSpPr>
        <p:spPr>
          <a:xfrm>
            <a:off x="2101350" y="1826675"/>
            <a:ext cx="1661930" cy="1572575"/>
          </a:xfrm>
          <a:custGeom>
            <a:rect b="b" l="l" r="r" t="t"/>
            <a:pathLst>
              <a:path extrusionOk="0" h="62903" w="65650">
                <a:moveTo>
                  <a:pt x="0" y="0"/>
                </a:moveTo>
                <a:cubicBezTo>
                  <a:pt x="6593" y="5219"/>
                  <a:pt x="31864" y="23257"/>
                  <a:pt x="39555" y="31314"/>
                </a:cubicBezTo>
                <a:cubicBezTo>
                  <a:pt x="47246" y="39371"/>
                  <a:pt x="41798" y="43079"/>
                  <a:pt x="46147" y="48344"/>
                </a:cubicBezTo>
                <a:cubicBezTo>
                  <a:pt x="50496" y="53609"/>
                  <a:pt x="62400" y="60477"/>
                  <a:pt x="65650" y="62903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/>
          <p:nvPr/>
        </p:nvSpPr>
        <p:spPr>
          <a:xfrm>
            <a:off x="1142400" y="571450"/>
            <a:ext cx="6854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Задача о семи мостах Кёнигсберга</a:t>
            </a:r>
            <a:endParaRPr/>
          </a:p>
        </p:txBody>
      </p:sp>
      <p:sp>
        <p:nvSpPr>
          <p:cNvPr id="224" name="Google Shape;224;p41"/>
          <p:cNvSpPr txBox="1"/>
          <p:nvPr/>
        </p:nvSpPr>
        <p:spPr>
          <a:xfrm>
            <a:off x="4594125" y="1285975"/>
            <a:ext cx="37602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Граф — абстрактный математический объект, представляющий собой множество вершин графа и набор рёбер, которые соединяют пары вершин. 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225" name="Google Shape;225;p41"/>
          <p:cNvSpPr/>
          <p:nvPr/>
        </p:nvSpPr>
        <p:spPr>
          <a:xfrm>
            <a:off x="1956050" y="171735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/>
          <p:nvPr/>
        </p:nvSpPr>
        <p:spPr>
          <a:xfrm>
            <a:off x="1726775" y="38750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>
            <a:off x="3637175" y="3340675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1914275" y="27308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1903925" y="1854125"/>
            <a:ext cx="115025" cy="933950"/>
          </a:xfrm>
          <a:custGeom>
            <a:rect b="b" l="l" r="r" t="t"/>
            <a:pathLst>
              <a:path extrusionOk="0" h="37358" w="4601">
                <a:moveTo>
                  <a:pt x="4601" y="0"/>
                </a:moveTo>
                <a:cubicBezTo>
                  <a:pt x="4052" y="2701"/>
                  <a:pt x="2038" y="11446"/>
                  <a:pt x="1305" y="16207"/>
                </a:cubicBezTo>
                <a:cubicBezTo>
                  <a:pt x="573" y="20968"/>
                  <a:pt x="-206" y="25043"/>
                  <a:pt x="206" y="28568"/>
                </a:cubicBezTo>
                <a:cubicBezTo>
                  <a:pt x="618" y="32093"/>
                  <a:pt x="3182" y="35893"/>
                  <a:pt x="3777" y="37358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" name="Google Shape;230;p41"/>
          <p:cNvSpPr/>
          <p:nvPr/>
        </p:nvSpPr>
        <p:spPr>
          <a:xfrm>
            <a:off x="2053275" y="1854125"/>
            <a:ext cx="373700" cy="975150"/>
          </a:xfrm>
          <a:custGeom>
            <a:rect b="b" l="l" r="r" t="t"/>
            <a:pathLst>
              <a:path extrusionOk="0" h="39006" w="14948">
                <a:moveTo>
                  <a:pt x="1099" y="0"/>
                </a:moveTo>
                <a:cubicBezTo>
                  <a:pt x="3342" y="3342"/>
                  <a:pt x="13048" y="14513"/>
                  <a:pt x="14559" y="20052"/>
                </a:cubicBezTo>
                <a:cubicBezTo>
                  <a:pt x="16070" y="25592"/>
                  <a:pt x="12591" y="30078"/>
                  <a:pt x="10164" y="33237"/>
                </a:cubicBezTo>
                <a:cubicBezTo>
                  <a:pt x="7738" y="36396"/>
                  <a:pt x="1694" y="38045"/>
                  <a:pt x="0" y="3900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1" name="Google Shape;231;p41"/>
          <p:cNvSpPr/>
          <p:nvPr/>
        </p:nvSpPr>
        <p:spPr>
          <a:xfrm>
            <a:off x="1729953" y="2870475"/>
            <a:ext cx="254650" cy="1085000"/>
          </a:xfrm>
          <a:custGeom>
            <a:rect b="b" l="l" r="r" t="t"/>
            <a:pathLst>
              <a:path extrusionOk="0" h="43400" w="10186">
                <a:moveTo>
                  <a:pt x="10186" y="0"/>
                </a:moveTo>
                <a:cubicBezTo>
                  <a:pt x="8950" y="1923"/>
                  <a:pt x="4464" y="7325"/>
                  <a:pt x="2770" y="11537"/>
                </a:cubicBezTo>
                <a:cubicBezTo>
                  <a:pt x="1076" y="15749"/>
                  <a:pt x="-68" y="19961"/>
                  <a:pt x="23" y="25271"/>
                </a:cubicBezTo>
                <a:cubicBezTo>
                  <a:pt x="115" y="30582"/>
                  <a:pt x="2770" y="40379"/>
                  <a:pt x="3319" y="4340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2" name="Google Shape;232;p41"/>
          <p:cNvSpPr/>
          <p:nvPr/>
        </p:nvSpPr>
        <p:spPr>
          <a:xfrm>
            <a:off x="1861000" y="2884200"/>
            <a:ext cx="340425" cy="1078150"/>
          </a:xfrm>
          <a:custGeom>
            <a:rect b="b" l="l" r="r" t="t"/>
            <a:pathLst>
              <a:path extrusionOk="0" h="43126" w="13617">
                <a:moveTo>
                  <a:pt x="7691" y="0"/>
                </a:moveTo>
                <a:cubicBezTo>
                  <a:pt x="8653" y="2381"/>
                  <a:pt x="12956" y="9523"/>
                  <a:pt x="13460" y="14284"/>
                </a:cubicBezTo>
                <a:cubicBezTo>
                  <a:pt x="13964" y="19045"/>
                  <a:pt x="12956" y="23761"/>
                  <a:pt x="10713" y="28568"/>
                </a:cubicBezTo>
                <a:cubicBezTo>
                  <a:pt x="8470" y="33375"/>
                  <a:pt x="1786" y="40700"/>
                  <a:pt x="0" y="4312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3" name="Google Shape;233;p41"/>
          <p:cNvSpPr/>
          <p:nvPr/>
        </p:nvSpPr>
        <p:spPr>
          <a:xfrm>
            <a:off x="1854125" y="3433575"/>
            <a:ext cx="1854150" cy="1065550"/>
          </a:xfrm>
          <a:custGeom>
            <a:rect b="b" l="l" r="r" t="t"/>
            <a:pathLst>
              <a:path extrusionOk="0" h="42622" w="74166">
                <a:moveTo>
                  <a:pt x="0" y="22799"/>
                </a:moveTo>
                <a:cubicBezTo>
                  <a:pt x="9843" y="26095"/>
                  <a:pt x="48116" y="42210"/>
                  <a:pt x="59058" y="42576"/>
                </a:cubicBezTo>
                <a:cubicBezTo>
                  <a:pt x="70000" y="42942"/>
                  <a:pt x="63132" y="32093"/>
                  <a:pt x="65650" y="24997"/>
                </a:cubicBezTo>
                <a:cubicBezTo>
                  <a:pt x="68168" y="17901"/>
                  <a:pt x="72747" y="4166"/>
                  <a:pt x="74166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4" name="Google Shape;234;p41"/>
          <p:cNvSpPr/>
          <p:nvPr/>
        </p:nvSpPr>
        <p:spPr>
          <a:xfrm>
            <a:off x="2053275" y="2836125"/>
            <a:ext cx="1661850" cy="563125"/>
          </a:xfrm>
          <a:custGeom>
            <a:rect b="b" l="l" r="r" t="t"/>
            <a:pathLst>
              <a:path extrusionOk="0" h="22525" w="66474">
                <a:moveTo>
                  <a:pt x="0" y="0"/>
                </a:moveTo>
                <a:cubicBezTo>
                  <a:pt x="4670" y="2655"/>
                  <a:pt x="21197" y="13231"/>
                  <a:pt x="28018" y="15932"/>
                </a:cubicBezTo>
                <a:cubicBezTo>
                  <a:pt x="34839" y="18633"/>
                  <a:pt x="34519" y="15108"/>
                  <a:pt x="40928" y="16207"/>
                </a:cubicBezTo>
                <a:cubicBezTo>
                  <a:pt x="47337" y="17306"/>
                  <a:pt x="62216" y="21472"/>
                  <a:pt x="66474" y="22525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" name="Google Shape;235;p41"/>
          <p:cNvSpPr/>
          <p:nvPr/>
        </p:nvSpPr>
        <p:spPr>
          <a:xfrm>
            <a:off x="2101350" y="1826675"/>
            <a:ext cx="1661930" cy="1572575"/>
          </a:xfrm>
          <a:custGeom>
            <a:rect b="b" l="l" r="r" t="t"/>
            <a:pathLst>
              <a:path extrusionOk="0" h="62903" w="65650">
                <a:moveTo>
                  <a:pt x="0" y="0"/>
                </a:moveTo>
                <a:cubicBezTo>
                  <a:pt x="6593" y="5219"/>
                  <a:pt x="31864" y="23257"/>
                  <a:pt x="39555" y="31314"/>
                </a:cubicBezTo>
                <a:cubicBezTo>
                  <a:pt x="47246" y="39371"/>
                  <a:pt x="41798" y="43079"/>
                  <a:pt x="46147" y="48344"/>
                </a:cubicBezTo>
                <a:cubicBezTo>
                  <a:pt x="50496" y="53609"/>
                  <a:pt x="62400" y="60477"/>
                  <a:pt x="65650" y="62903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6" name="Google Shape;236;p41"/>
          <p:cNvSpPr txBox="1"/>
          <p:nvPr/>
        </p:nvSpPr>
        <p:spPr>
          <a:xfrm>
            <a:off x="2726250" y="1469575"/>
            <a:ext cx="1895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vertex</a:t>
            </a:r>
            <a:r>
              <a:rPr lang="en-US">
                <a:solidFill>
                  <a:srgbClr val="2C2D30"/>
                </a:solidFill>
              </a:rPr>
              <a:t> (вершина)</a:t>
            </a:r>
            <a:endParaRPr>
              <a:solidFill>
                <a:srgbClr val="2C2D30"/>
              </a:solidFill>
            </a:endParaRPr>
          </a:p>
        </p:txBody>
      </p:sp>
      <p:sp>
        <p:nvSpPr>
          <p:cNvPr id="237" name="Google Shape;237;p41"/>
          <p:cNvSpPr txBox="1"/>
          <p:nvPr/>
        </p:nvSpPr>
        <p:spPr>
          <a:xfrm>
            <a:off x="2967900" y="1930975"/>
            <a:ext cx="1895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edge </a:t>
            </a:r>
            <a:r>
              <a:rPr lang="en-US">
                <a:solidFill>
                  <a:srgbClr val="2C2D30"/>
                </a:solidFill>
              </a:rPr>
              <a:t>(ребро)</a:t>
            </a:r>
            <a:endParaRPr>
              <a:solidFill>
                <a:srgbClr val="2C2D30"/>
              </a:solidFill>
            </a:endParaRPr>
          </a:p>
        </p:txBody>
      </p:sp>
      <p:cxnSp>
        <p:nvCxnSpPr>
          <p:cNvPr id="238" name="Google Shape;238;p41"/>
          <p:cNvCxnSpPr>
            <a:stCxn id="236" idx="1"/>
          </p:cNvCxnSpPr>
          <p:nvPr/>
        </p:nvCxnSpPr>
        <p:spPr>
          <a:xfrm flipH="1">
            <a:off x="2252550" y="1700275"/>
            <a:ext cx="473700" cy="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41"/>
          <p:cNvCxnSpPr>
            <a:stCxn id="237" idx="1"/>
          </p:cNvCxnSpPr>
          <p:nvPr/>
        </p:nvCxnSpPr>
        <p:spPr>
          <a:xfrm flipH="1">
            <a:off x="2822400" y="2161675"/>
            <a:ext cx="145500" cy="1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/>
          <p:nvPr/>
        </p:nvSpPr>
        <p:spPr>
          <a:xfrm>
            <a:off x="1142400" y="571450"/>
            <a:ext cx="68544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Задача о семи мостах Кёнигсберга</a:t>
            </a:r>
            <a:endParaRPr/>
          </a:p>
        </p:txBody>
      </p:sp>
      <p:sp>
        <p:nvSpPr>
          <p:cNvPr id="245" name="Google Shape;245;p42"/>
          <p:cNvSpPr txBox="1"/>
          <p:nvPr/>
        </p:nvSpPr>
        <p:spPr>
          <a:xfrm>
            <a:off x="4594125" y="1285975"/>
            <a:ext cx="37602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 Для наличия Эйлерова цикла в графе нужно, чтобы у каждой вершины её </a:t>
            </a:r>
            <a:r>
              <a:rPr lang="en-US" sz="1600">
                <a:solidFill>
                  <a:srgbClr val="2C2D3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степень</a:t>
            </a:r>
            <a:r>
              <a:rPr lang="en-US" sz="1600">
                <a:solidFill>
                  <a:srgbClr val="2C2D30"/>
                </a:solidFill>
              </a:rPr>
              <a:t> была чётной.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246" name="Google Shape;246;p42"/>
          <p:cNvSpPr/>
          <p:nvPr/>
        </p:nvSpPr>
        <p:spPr>
          <a:xfrm>
            <a:off x="1956050" y="171735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1726775" y="38750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2"/>
          <p:cNvSpPr/>
          <p:nvPr/>
        </p:nvSpPr>
        <p:spPr>
          <a:xfrm>
            <a:off x="3637175" y="3340675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2"/>
          <p:cNvSpPr/>
          <p:nvPr/>
        </p:nvSpPr>
        <p:spPr>
          <a:xfrm>
            <a:off x="1914275" y="2730800"/>
            <a:ext cx="187500" cy="187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1903925" y="1854125"/>
            <a:ext cx="115025" cy="933950"/>
          </a:xfrm>
          <a:custGeom>
            <a:rect b="b" l="l" r="r" t="t"/>
            <a:pathLst>
              <a:path extrusionOk="0" h="37358" w="4601">
                <a:moveTo>
                  <a:pt x="4601" y="0"/>
                </a:moveTo>
                <a:cubicBezTo>
                  <a:pt x="4052" y="2701"/>
                  <a:pt x="2038" y="11446"/>
                  <a:pt x="1305" y="16207"/>
                </a:cubicBezTo>
                <a:cubicBezTo>
                  <a:pt x="573" y="20968"/>
                  <a:pt x="-206" y="25043"/>
                  <a:pt x="206" y="28568"/>
                </a:cubicBezTo>
                <a:cubicBezTo>
                  <a:pt x="618" y="32093"/>
                  <a:pt x="3182" y="35893"/>
                  <a:pt x="3777" y="37358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1" name="Google Shape;251;p42"/>
          <p:cNvSpPr/>
          <p:nvPr/>
        </p:nvSpPr>
        <p:spPr>
          <a:xfrm>
            <a:off x="2053275" y="1854125"/>
            <a:ext cx="373700" cy="975150"/>
          </a:xfrm>
          <a:custGeom>
            <a:rect b="b" l="l" r="r" t="t"/>
            <a:pathLst>
              <a:path extrusionOk="0" h="39006" w="14948">
                <a:moveTo>
                  <a:pt x="1099" y="0"/>
                </a:moveTo>
                <a:cubicBezTo>
                  <a:pt x="3342" y="3342"/>
                  <a:pt x="13048" y="14513"/>
                  <a:pt x="14559" y="20052"/>
                </a:cubicBezTo>
                <a:cubicBezTo>
                  <a:pt x="16070" y="25592"/>
                  <a:pt x="12591" y="30078"/>
                  <a:pt x="10164" y="33237"/>
                </a:cubicBezTo>
                <a:cubicBezTo>
                  <a:pt x="7738" y="36396"/>
                  <a:pt x="1694" y="38045"/>
                  <a:pt x="0" y="3900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2" name="Google Shape;252;p42"/>
          <p:cNvSpPr/>
          <p:nvPr/>
        </p:nvSpPr>
        <p:spPr>
          <a:xfrm>
            <a:off x="1729953" y="2870475"/>
            <a:ext cx="254650" cy="1085000"/>
          </a:xfrm>
          <a:custGeom>
            <a:rect b="b" l="l" r="r" t="t"/>
            <a:pathLst>
              <a:path extrusionOk="0" h="43400" w="10186">
                <a:moveTo>
                  <a:pt x="10186" y="0"/>
                </a:moveTo>
                <a:cubicBezTo>
                  <a:pt x="8950" y="1923"/>
                  <a:pt x="4464" y="7325"/>
                  <a:pt x="2770" y="11537"/>
                </a:cubicBezTo>
                <a:cubicBezTo>
                  <a:pt x="1076" y="15749"/>
                  <a:pt x="-68" y="19961"/>
                  <a:pt x="23" y="25271"/>
                </a:cubicBezTo>
                <a:cubicBezTo>
                  <a:pt x="115" y="30582"/>
                  <a:pt x="2770" y="40379"/>
                  <a:pt x="3319" y="4340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3" name="Google Shape;253;p42"/>
          <p:cNvSpPr/>
          <p:nvPr/>
        </p:nvSpPr>
        <p:spPr>
          <a:xfrm>
            <a:off x="1861000" y="2884200"/>
            <a:ext cx="340425" cy="1078150"/>
          </a:xfrm>
          <a:custGeom>
            <a:rect b="b" l="l" r="r" t="t"/>
            <a:pathLst>
              <a:path extrusionOk="0" h="43126" w="13617">
                <a:moveTo>
                  <a:pt x="7691" y="0"/>
                </a:moveTo>
                <a:cubicBezTo>
                  <a:pt x="8653" y="2381"/>
                  <a:pt x="12956" y="9523"/>
                  <a:pt x="13460" y="14284"/>
                </a:cubicBezTo>
                <a:cubicBezTo>
                  <a:pt x="13964" y="19045"/>
                  <a:pt x="12956" y="23761"/>
                  <a:pt x="10713" y="28568"/>
                </a:cubicBezTo>
                <a:cubicBezTo>
                  <a:pt x="8470" y="33375"/>
                  <a:pt x="1786" y="40700"/>
                  <a:pt x="0" y="43126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4" name="Google Shape;254;p42"/>
          <p:cNvSpPr/>
          <p:nvPr/>
        </p:nvSpPr>
        <p:spPr>
          <a:xfrm>
            <a:off x="1854125" y="3433575"/>
            <a:ext cx="1854150" cy="1065550"/>
          </a:xfrm>
          <a:custGeom>
            <a:rect b="b" l="l" r="r" t="t"/>
            <a:pathLst>
              <a:path extrusionOk="0" h="42622" w="74166">
                <a:moveTo>
                  <a:pt x="0" y="22799"/>
                </a:moveTo>
                <a:cubicBezTo>
                  <a:pt x="9843" y="26095"/>
                  <a:pt x="48116" y="42210"/>
                  <a:pt x="59058" y="42576"/>
                </a:cubicBezTo>
                <a:cubicBezTo>
                  <a:pt x="70000" y="42942"/>
                  <a:pt x="63132" y="32093"/>
                  <a:pt x="65650" y="24997"/>
                </a:cubicBezTo>
                <a:cubicBezTo>
                  <a:pt x="68168" y="17901"/>
                  <a:pt x="72747" y="4166"/>
                  <a:pt x="74166" y="0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5" name="Google Shape;255;p42"/>
          <p:cNvSpPr/>
          <p:nvPr/>
        </p:nvSpPr>
        <p:spPr>
          <a:xfrm>
            <a:off x="2053275" y="2836125"/>
            <a:ext cx="1661850" cy="563125"/>
          </a:xfrm>
          <a:custGeom>
            <a:rect b="b" l="l" r="r" t="t"/>
            <a:pathLst>
              <a:path extrusionOk="0" h="22525" w="66474">
                <a:moveTo>
                  <a:pt x="0" y="0"/>
                </a:moveTo>
                <a:cubicBezTo>
                  <a:pt x="4670" y="2655"/>
                  <a:pt x="21197" y="13231"/>
                  <a:pt x="28018" y="15932"/>
                </a:cubicBezTo>
                <a:cubicBezTo>
                  <a:pt x="34839" y="18633"/>
                  <a:pt x="34519" y="15108"/>
                  <a:pt x="40928" y="16207"/>
                </a:cubicBezTo>
                <a:cubicBezTo>
                  <a:pt x="47337" y="17306"/>
                  <a:pt x="62216" y="21472"/>
                  <a:pt x="66474" y="22525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6" name="Google Shape;256;p42"/>
          <p:cNvSpPr/>
          <p:nvPr/>
        </p:nvSpPr>
        <p:spPr>
          <a:xfrm>
            <a:off x="2101350" y="1826675"/>
            <a:ext cx="1661930" cy="1572575"/>
          </a:xfrm>
          <a:custGeom>
            <a:rect b="b" l="l" r="r" t="t"/>
            <a:pathLst>
              <a:path extrusionOk="0" h="62903" w="65650">
                <a:moveTo>
                  <a:pt x="0" y="0"/>
                </a:moveTo>
                <a:cubicBezTo>
                  <a:pt x="6593" y="5219"/>
                  <a:pt x="31864" y="23257"/>
                  <a:pt x="39555" y="31314"/>
                </a:cubicBezTo>
                <a:cubicBezTo>
                  <a:pt x="47246" y="39371"/>
                  <a:pt x="41798" y="43079"/>
                  <a:pt x="46147" y="48344"/>
                </a:cubicBezTo>
                <a:cubicBezTo>
                  <a:pt x="50496" y="53609"/>
                  <a:pt x="62400" y="60477"/>
                  <a:pt x="65650" y="62903"/>
                </a:cubicBez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57" name="Google Shape;257;p42"/>
          <p:cNvSpPr txBox="1"/>
          <p:nvPr/>
        </p:nvSpPr>
        <p:spPr>
          <a:xfrm>
            <a:off x="1386263" y="1392725"/>
            <a:ext cx="340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3</a:t>
            </a:r>
            <a:endParaRPr/>
          </a:p>
        </p:txBody>
      </p:sp>
      <p:cxnSp>
        <p:nvCxnSpPr>
          <p:cNvPr id="258" name="Google Shape;258;p42"/>
          <p:cNvCxnSpPr>
            <a:stCxn id="257" idx="3"/>
          </p:cNvCxnSpPr>
          <p:nvPr/>
        </p:nvCxnSpPr>
        <p:spPr>
          <a:xfrm>
            <a:off x="1726763" y="1623425"/>
            <a:ext cx="765900" cy="5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42"/>
          <p:cNvCxnSpPr>
            <a:stCxn id="257" idx="3"/>
          </p:cNvCxnSpPr>
          <p:nvPr/>
        </p:nvCxnSpPr>
        <p:spPr>
          <a:xfrm>
            <a:off x="1726763" y="1623425"/>
            <a:ext cx="6288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42"/>
          <p:cNvCxnSpPr>
            <a:stCxn id="257" idx="3"/>
          </p:cNvCxnSpPr>
          <p:nvPr/>
        </p:nvCxnSpPr>
        <p:spPr>
          <a:xfrm>
            <a:off x="1726763" y="1623425"/>
            <a:ext cx="168600" cy="54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p42"/>
          <p:cNvSpPr txBox="1"/>
          <p:nvPr/>
        </p:nvSpPr>
        <p:spPr>
          <a:xfrm>
            <a:off x="1222763" y="3804450"/>
            <a:ext cx="340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3</a:t>
            </a:r>
            <a:endParaRPr/>
          </a:p>
        </p:txBody>
      </p:sp>
      <p:cxnSp>
        <p:nvCxnSpPr>
          <p:cNvPr id="262" name="Google Shape;262;p42"/>
          <p:cNvCxnSpPr>
            <a:stCxn id="261" idx="3"/>
          </p:cNvCxnSpPr>
          <p:nvPr/>
        </p:nvCxnSpPr>
        <p:spPr>
          <a:xfrm flipH="1" rot="10800000">
            <a:off x="1563263" y="3639750"/>
            <a:ext cx="146700" cy="39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42"/>
          <p:cNvCxnSpPr>
            <a:stCxn id="261" idx="3"/>
          </p:cNvCxnSpPr>
          <p:nvPr/>
        </p:nvCxnSpPr>
        <p:spPr>
          <a:xfrm flipH="1" rot="10800000">
            <a:off x="1563263" y="3646350"/>
            <a:ext cx="476400" cy="38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42"/>
          <p:cNvCxnSpPr>
            <a:stCxn id="261" idx="3"/>
          </p:cNvCxnSpPr>
          <p:nvPr/>
        </p:nvCxnSpPr>
        <p:spPr>
          <a:xfrm>
            <a:off x="1563263" y="4035150"/>
            <a:ext cx="579300" cy="14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2"/>
          <p:cNvSpPr txBox="1"/>
          <p:nvPr/>
        </p:nvSpPr>
        <p:spPr>
          <a:xfrm>
            <a:off x="3928413" y="2760600"/>
            <a:ext cx="340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3</a:t>
            </a:r>
            <a:endParaRPr/>
          </a:p>
        </p:txBody>
      </p:sp>
      <p:cxnSp>
        <p:nvCxnSpPr>
          <p:cNvPr id="266" name="Google Shape;266;p42"/>
          <p:cNvCxnSpPr>
            <a:stCxn id="265" idx="1"/>
          </p:cNvCxnSpPr>
          <p:nvPr/>
        </p:nvCxnSpPr>
        <p:spPr>
          <a:xfrm flipH="1">
            <a:off x="3310113" y="2991300"/>
            <a:ext cx="618300" cy="27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42"/>
          <p:cNvCxnSpPr>
            <a:stCxn id="265" idx="1"/>
          </p:cNvCxnSpPr>
          <p:nvPr/>
        </p:nvCxnSpPr>
        <p:spPr>
          <a:xfrm flipH="1">
            <a:off x="3337413" y="2991300"/>
            <a:ext cx="591000" cy="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42"/>
          <p:cNvCxnSpPr>
            <a:stCxn id="265" idx="1"/>
          </p:cNvCxnSpPr>
          <p:nvPr/>
        </p:nvCxnSpPr>
        <p:spPr>
          <a:xfrm flipH="1">
            <a:off x="3268713" y="2991300"/>
            <a:ext cx="659700" cy="14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42"/>
          <p:cNvSpPr txBox="1"/>
          <p:nvPr/>
        </p:nvSpPr>
        <p:spPr>
          <a:xfrm>
            <a:off x="1222763" y="2422800"/>
            <a:ext cx="340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5</a:t>
            </a:r>
            <a:endParaRPr/>
          </a:p>
        </p:txBody>
      </p:sp>
      <p:cxnSp>
        <p:nvCxnSpPr>
          <p:cNvPr id="270" name="Google Shape;270;p42"/>
          <p:cNvCxnSpPr>
            <a:stCxn id="269" idx="3"/>
          </p:cNvCxnSpPr>
          <p:nvPr/>
        </p:nvCxnSpPr>
        <p:spPr>
          <a:xfrm flipH="1" rot="10800000">
            <a:off x="1563263" y="2403600"/>
            <a:ext cx="297600" cy="2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42"/>
          <p:cNvCxnSpPr>
            <a:stCxn id="269" idx="3"/>
          </p:cNvCxnSpPr>
          <p:nvPr/>
        </p:nvCxnSpPr>
        <p:spPr>
          <a:xfrm flipH="1" rot="10800000">
            <a:off x="1563263" y="2568300"/>
            <a:ext cx="750900" cy="8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42"/>
          <p:cNvCxnSpPr>
            <a:stCxn id="269" idx="3"/>
          </p:cNvCxnSpPr>
          <p:nvPr/>
        </p:nvCxnSpPr>
        <p:spPr>
          <a:xfrm>
            <a:off x="1563263" y="2653500"/>
            <a:ext cx="709800" cy="3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42"/>
          <p:cNvCxnSpPr>
            <a:stCxn id="269" idx="3"/>
          </p:cNvCxnSpPr>
          <p:nvPr/>
        </p:nvCxnSpPr>
        <p:spPr>
          <a:xfrm>
            <a:off x="1563263" y="2653500"/>
            <a:ext cx="593100" cy="6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4" name="Google Shape;274;p42"/>
          <p:cNvCxnSpPr>
            <a:stCxn id="269" idx="3"/>
          </p:cNvCxnSpPr>
          <p:nvPr/>
        </p:nvCxnSpPr>
        <p:spPr>
          <a:xfrm>
            <a:off x="1563263" y="2653500"/>
            <a:ext cx="208500" cy="5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Граф, состоящий из вершин</a:t>
            </a:r>
            <a:endParaRPr/>
          </a:p>
        </p:txBody>
      </p:sp>
      <p:sp>
        <p:nvSpPr>
          <p:cNvPr id="280" name="Google Shape;280;p43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281" name="Google Shape;281;p43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82" name="Google Shape;282;p43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83" name="Google Shape;283;p43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84" name="Google Shape;284;p43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85" name="Google Shape;285;p43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Граф с изолированной вершиной</a:t>
            </a:r>
            <a:endParaRPr/>
          </a:p>
        </p:txBody>
      </p:sp>
      <p:sp>
        <p:nvSpPr>
          <p:cNvPr id="291" name="Google Shape;291;p44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292" name="Google Shape;292;p44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93" name="Google Shape;293;p44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94" name="Google Shape;294;p44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95" name="Google Shape;295;p44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96" name="Google Shape;296;p44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297" name="Google Shape;297;p44"/>
          <p:cNvCxnSpPr>
            <a:stCxn id="291" idx="7"/>
            <a:endCxn id="293" idx="2"/>
          </p:cNvCxnSpPr>
          <p:nvPr/>
        </p:nvCxnSpPr>
        <p:spPr>
          <a:xfrm flipH="1" rot="10800000">
            <a:off x="2429501" y="2187349"/>
            <a:ext cx="905700" cy="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44"/>
          <p:cNvCxnSpPr>
            <a:stCxn id="291" idx="4"/>
            <a:endCxn id="292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44"/>
          <p:cNvCxnSpPr>
            <a:stCxn id="291" idx="5"/>
            <a:endCxn id="295" idx="2"/>
          </p:cNvCxnSpPr>
          <p:nvPr/>
        </p:nvCxnSpPr>
        <p:spPr>
          <a:xfrm>
            <a:off x="2429501" y="2536301"/>
            <a:ext cx="17955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44"/>
          <p:cNvCxnSpPr>
            <a:stCxn id="293" idx="6"/>
            <a:endCxn id="295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44"/>
          <p:cNvCxnSpPr>
            <a:stCxn id="292" idx="5"/>
            <a:endCxn id="294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44"/>
          <p:cNvSpPr txBox="1"/>
          <p:nvPr/>
        </p:nvSpPr>
        <p:spPr>
          <a:xfrm>
            <a:off x="2142575" y="4101125"/>
            <a:ext cx="1840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C2D30"/>
                </a:solidFill>
              </a:rPr>
              <a:t>Смежные рёбра</a:t>
            </a:r>
            <a:endParaRPr>
              <a:solidFill>
                <a:srgbClr val="2C2D30"/>
              </a:solidFill>
            </a:endParaRPr>
          </a:p>
        </p:txBody>
      </p:sp>
      <p:cxnSp>
        <p:nvCxnSpPr>
          <p:cNvPr id="303" name="Google Shape;303;p44"/>
          <p:cNvCxnSpPr>
            <a:stCxn id="302" idx="0"/>
          </p:cNvCxnSpPr>
          <p:nvPr/>
        </p:nvCxnSpPr>
        <p:spPr>
          <a:xfrm rot="10800000">
            <a:off x="2575025" y="2973425"/>
            <a:ext cx="487800" cy="11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44"/>
          <p:cNvCxnSpPr>
            <a:stCxn id="302" idx="0"/>
          </p:cNvCxnSpPr>
          <p:nvPr/>
        </p:nvCxnSpPr>
        <p:spPr>
          <a:xfrm flipH="1" rot="10800000">
            <a:off x="3062825" y="3701525"/>
            <a:ext cx="940800" cy="39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Несвязный</a:t>
            </a:r>
            <a:r>
              <a:rPr lang="en-US" sz="3200">
                <a:solidFill>
                  <a:srgbClr val="4C5D6E"/>
                </a:solidFill>
              </a:rPr>
              <a:t> г</a:t>
            </a:r>
            <a:r>
              <a:rPr lang="en-US" sz="3200">
                <a:solidFill>
                  <a:srgbClr val="4C5D6E"/>
                </a:solidFill>
              </a:rPr>
              <a:t>раф</a:t>
            </a:r>
            <a:endParaRPr/>
          </a:p>
        </p:txBody>
      </p:sp>
      <p:sp>
        <p:nvSpPr>
          <p:cNvPr id="310" name="Google Shape;310;p45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11" name="Google Shape;311;p45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12" name="Google Shape;312;p45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13" name="Google Shape;313;p45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14" name="Google Shape;314;p45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15" name="Google Shape;315;p45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16" name="Google Shape;316;p45"/>
          <p:cNvCxnSpPr>
            <a:stCxn id="310" idx="7"/>
            <a:endCxn id="312" idx="2"/>
          </p:cNvCxnSpPr>
          <p:nvPr/>
        </p:nvCxnSpPr>
        <p:spPr>
          <a:xfrm flipH="1" rot="10800000">
            <a:off x="2429501" y="2187349"/>
            <a:ext cx="905700" cy="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45"/>
          <p:cNvCxnSpPr>
            <a:stCxn id="310" idx="4"/>
            <a:endCxn id="311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45"/>
          <p:cNvCxnSpPr>
            <a:stCxn id="310" idx="5"/>
            <a:endCxn id="314" idx="2"/>
          </p:cNvCxnSpPr>
          <p:nvPr/>
        </p:nvCxnSpPr>
        <p:spPr>
          <a:xfrm>
            <a:off x="2429501" y="2536301"/>
            <a:ext cx="17955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45"/>
          <p:cNvCxnSpPr>
            <a:stCxn id="312" idx="6"/>
            <a:endCxn id="314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45"/>
          <p:cNvCxnSpPr>
            <a:stCxn id="315" idx="3"/>
            <a:endCxn id="313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</a:t>
            </a:r>
            <a:r>
              <a:rPr lang="en-US" sz="3200">
                <a:solidFill>
                  <a:srgbClr val="4C5D6E"/>
                </a:solidFill>
              </a:rPr>
              <a:t>вязный граф, имеющий цикл</a:t>
            </a:r>
            <a:endParaRPr/>
          </a:p>
        </p:txBody>
      </p:sp>
      <p:sp>
        <p:nvSpPr>
          <p:cNvPr id="326" name="Google Shape;326;p46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27" name="Google Shape;327;p46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28" name="Google Shape;328;p46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29" name="Google Shape;329;p46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30" name="Google Shape;330;p46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31" name="Google Shape;331;p46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32" name="Google Shape;332;p46"/>
          <p:cNvCxnSpPr>
            <a:stCxn id="326" idx="7"/>
            <a:endCxn id="328" idx="2"/>
          </p:cNvCxnSpPr>
          <p:nvPr/>
        </p:nvCxnSpPr>
        <p:spPr>
          <a:xfrm flipH="1" rot="10800000">
            <a:off x="2429501" y="2187349"/>
            <a:ext cx="905700" cy="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46"/>
          <p:cNvCxnSpPr>
            <a:stCxn id="326" idx="4"/>
            <a:endCxn id="327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46"/>
          <p:cNvCxnSpPr>
            <a:stCxn id="326" idx="5"/>
            <a:endCxn id="330" idx="2"/>
          </p:cNvCxnSpPr>
          <p:nvPr/>
        </p:nvCxnSpPr>
        <p:spPr>
          <a:xfrm>
            <a:off x="2429501" y="2536301"/>
            <a:ext cx="17955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6"/>
          <p:cNvCxnSpPr>
            <a:stCxn id="328" idx="6"/>
            <a:endCxn id="330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6"/>
          <p:cNvCxnSpPr>
            <a:stCxn id="331" idx="3"/>
            <a:endCxn id="329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6"/>
          <p:cNvCxnSpPr>
            <a:stCxn id="327" idx="5"/>
            <a:endCxn id="329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Связный граф без циклов</a:t>
            </a:r>
            <a:endParaRPr/>
          </a:p>
        </p:txBody>
      </p:sp>
      <p:sp>
        <p:nvSpPr>
          <p:cNvPr id="343" name="Google Shape;343;p47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44" name="Google Shape;344;p47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45" name="Google Shape;345;p47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46" name="Google Shape;346;p47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47" name="Google Shape;347;p47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48" name="Google Shape;348;p47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49" name="Google Shape;349;p47"/>
          <p:cNvCxnSpPr>
            <a:stCxn id="343" idx="4"/>
            <a:endCxn id="344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7"/>
          <p:cNvCxnSpPr>
            <a:stCxn id="344" idx="7"/>
            <a:endCxn id="347" idx="2"/>
          </p:cNvCxnSpPr>
          <p:nvPr/>
        </p:nvCxnSpPr>
        <p:spPr>
          <a:xfrm flipH="1" rot="10800000">
            <a:off x="3309801" y="2859224"/>
            <a:ext cx="9153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47"/>
          <p:cNvCxnSpPr>
            <a:stCxn id="345" idx="6"/>
            <a:endCxn id="347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47"/>
          <p:cNvCxnSpPr>
            <a:stCxn id="348" idx="3"/>
            <a:endCxn id="346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47"/>
          <p:cNvCxnSpPr>
            <a:stCxn id="344" idx="5"/>
            <a:endCxn id="346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Связный граф с петлёй</a:t>
            </a:r>
            <a:endParaRPr/>
          </a:p>
        </p:txBody>
      </p:sp>
      <p:sp>
        <p:nvSpPr>
          <p:cNvPr id="359" name="Google Shape;359;p48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60" name="Google Shape;360;p48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61" name="Google Shape;361;p48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62" name="Google Shape;362;p48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63" name="Google Shape;363;p48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64" name="Google Shape;364;p48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65" name="Google Shape;365;p48"/>
          <p:cNvCxnSpPr>
            <a:stCxn id="359" idx="4"/>
            <a:endCxn id="360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8"/>
          <p:cNvCxnSpPr>
            <a:stCxn id="360" idx="7"/>
            <a:endCxn id="363" idx="2"/>
          </p:cNvCxnSpPr>
          <p:nvPr/>
        </p:nvCxnSpPr>
        <p:spPr>
          <a:xfrm flipH="1" rot="10800000">
            <a:off x="3309801" y="2859224"/>
            <a:ext cx="9153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8"/>
          <p:cNvCxnSpPr>
            <a:stCxn id="361" idx="6"/>
            <a:endCxn id="363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8"/>
          <p:cNvCxnSpPr>
            <a:stCxn id="364" idx="3"/>
            <a:endCxn id="362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8"/>
          <p:cNvCxnSpPr>
            <a:stCxn id="360" idx="5"/>
            <a:endCxn id="362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8"/>
          <p:cNvCxnSpPr>
            <a:stCxn id="363" idx="5"/>
            <a:endCxn id="363" idx="7"/>
          </p:cNvCxnSpPr>
          <p:nvPr/>
        </p:nvCxnSpPr>
        <p:spPr>
          <a:xfrm rot="-5400000">
            <a:off x="4448676" y="2858951"/>
            <a:ext cx="315600" cy="600"/>
          </a:xfrm>
          <a:prstGeom prst="curvedConnector5">
            <a:avLst>
              <a:gd fmla="val -96166" name="adj1"/>
              <a:gd fmla="val 86120628" name="adj2"/>
              <a:gd fmla="val 196182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Ориентированный</a:t>
            </a:r>
            <a:r>
              <a:rPr lang="en-US" sz="3200">
                <a:solidFill>
                  <a:srgbClr val="4C5D6E"/>
                </a:solidFill>
              </a:rPr>
              <a:t> граф</a:t>
            </a:r>
            <a:endParaRPr/>
          </a:p>
        </p:txBody>
      </p:sp>
      <p:sp>
        <p:nvSpPr>
          <p:cNvPr id="376" name="Google Shape;376;p49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77" name="Google Shape;377;p49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78" name="Google Shape;378;p49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79" name="Google Shape;379;p49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80" name="Google Shape;380;p49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81" name="Google Shape;381;p49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82" name="Google Shape;382;p49"/>
          <p:cNvCxnSpPr>
            <a:stCxn id="376" idx="4"/>
            <a:endCxn id="377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49"/>
          <p:cNvCxnSpPr>
            <a:stCxn id="377" idx="7"/>
            <a:endCxn id="380" idx="2"/>
          </p:cNvCxnSpPr>
          <p:nvPr/>
        </p:nvCxnSpPr>
        <p:spPr>
          <a:xfrm flipH="1" rot="10800000">
            <a:off x="3309801" y="2859224"/>
            <a:ext cx="9153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49"/>
          <p:cNvCxnSpPr>
            <a:stCxn id="378" idx="6"/>
            <a:endCxn id="380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5" name="Google Shape;385;p49"/>
          <p:cNvCxnSpPr>
            <a:stCxn id="381" idx="3"/>
            <a:endCxn id="379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86" name="Google Shape;386;p49"/>
          <p:cNvCxnSpPr>
            <a:stCxn id="377" idx="5"/>
            <a:endCxn id="379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Взвешенный</a:t>
            </a:r>
            <a:r>
              <a:rPr lang="en-US" sz="3200">
                <a:solidFill>
                  <a:srgbClr val="4C5D6E"/>
                </a:solidFill>
              </a:rPr>
              <a:t> граф</a:t>
            </a:r>
            <a:endParaRPr/>
          </a:p>
        </p:txBody>
      </p:sp>
      <p:sp>
        <p:nvSpPr>
          <p:cNvPr id="392" name="Google Shape;392;p50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393" name="Google Shape;393;p50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394" name="Google Shape;394;p50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395" name="Google Shape;395;p50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396" name="Google Shape;396;p50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397" name="Google Shape;397;p50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398" name="Google Shape;398;p50"/>
          <p:cNvCxnSpPr>
            <a:stCxn id="392" idx="4"/>
            <a:endCxn id="393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50"/>
          <p:cNvCxnSpPr>
            <a:stCxn id="393" idx="7"/>
            <a:endCxn id="396" idx="2"/>
          </p:cNvCxnSpPr>
          <p:nvPr/>
        </p:nvCxnSpPr>
        <p:spPr>
          <a:xfrm flipH="1" rot="10800000">
            <a:off x="3309801" y="2859224"/>
            <a:ext cx="9153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50"/>
          <p:cNvCxnSpPr>
            <a:stCxn id="394" idx="6"/>
            <a:endCxn id="396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50"/>
          <p:cNvCxnSpPr>
            <a:stCxn id="397" idx="3"/>
            <a:endCxn id="395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50"/>
          <p:cNvCxnSpPr>
            <a:stCxn id="393" idx="5"/>
            <a:endCxn id="395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50"/>
          <p:cNvSpPr txBox="1"/>
          <p:nvPr/>
        </p:nvSpPr>
        <p:spPr>
          <a:xfrm>
            <a:off x="3934875" y="20821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04" name="Google Shape;404;p50"/>
          <p:cNvSpPr txBox="1"/>
          <p:nvPr/>
        </p:nvSpPr>
        <p:spPr>
          <a:xfrm>
            <a:off x="3488475" y="2660000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05" name="Google Shape;405;p50"/>
          <p:cNvSpPr txBox="1"/>
          <p:nvPr/>
        </p:nvSpPr>
        <p:spPr>
          <a:xfrm>
            <a:off x="2547675" y="26016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06" name="Google Shape;406;p50"/>
          <p:cNvSpPr txBox="1"/>
          <p:nvPr/>
        </p:nvSpPr>
        <p:spPr>
          <a:xfrm>
            <a:off x="4059750" y="3297200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407" name="Google Shape;407;p50"/>
          <p:cNvSpPr txBox="1"/>
          <p:nvPr/>
        </p:nvSpPr>
        <p:spPr>
          <a:xfrm>
            <a:off x="5801175" y="30007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/>
          <p:nvPr/>
        </p:nvSpPr>
        <p:spPr>
          <a:xfrm>
            <a:off x="11447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Взвешенный о</a:t>
            </a:r>
            <a:r>
              <a:rPr lang="en-US" sz="3200">
                <a:solidFill>
                  <a:srgbClr val="4C5D6E"/>
                </a:solidFill>
              </a:rPr>
              <a:t>риентированный</a:t>
            </a:r>
            <a:r>
              <a:rPr lang="en-US" sz="3200">
                <a:solidFill>
                  <a:srgbClr val="4C5D6E"/>
                </a:solidFill>
              </a:rPr>
              <a:t> граф</a:t>
            </a:r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2048475" y="21552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414" name="Google Shape;414;p51"/>
          <p:cNvSpPr/>
          <p:nvPr/>
        </p:nvSpPr>
        <p:spPr>
          <a:xfrm>
            <a:off x="2928775" y="31166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15" name="Google Shape;415;p51"/>
          <p:cNvSpPr/>
          <p:nvPr/>
        </p:nvSpPr>
        <p:spPr>
          <a:xfrm>
            <a:off x="3335225" y="1964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16" name="Google Shape;416;p51"/>
          <p:cNvSpPr/>
          <p:nvPr/>
        </p:nvSpPr>
        <p:spPr>
          <a:xfrm>
            <a:off x="5190725" y="35630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417" name="Google Shape;417;p51"/>
          <p:cNvSpPr/>
          <p:nvPr/>
        </p:nvSpPr>
        <p:spPr>
          <a:xfrm>
            <a:off x="4225150" y="26360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418" name="Google Shape;418;p51"/>
          <p:cNvSpPr/>
          <p:nvPr/>
        </p:nvSpPr>
        <p:spPr>
          <a:xfrm>
            <a:off x="6704075" y="2738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419" name="Google Shape;419;p51"/>
          <p:cNvCxnSpPr>
            <a:stCxn id="413" idx="4"/>
            <a:endCxn id="414" idx="1"/>
          </p:cNvCxnSpPr>
          <p:nvPr/>
        </p:nvCxnSpPr>
        <p:spPr>
          <a:xfrm>
            <a:off x="2271675" y="2601675"/>
            <a:ext cx="722400" cy="5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0" name="Google Shape;420;p51"/>
          <p:cNvCxnSpPr>
            <a:stCxn id="414" idx="7"/>
            <a:endCxn id="417" idx="2"/>
          </p:cNvCxnSpPr>
          <p:nvPr/>
        </p:nvCxnSpPr>
        <p:spPr>
          <a:xfrm flipH="1" rot="10800000">
            <a:off x="3309801" y="2859224"/>
            <a:ext cx="9153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1" name="Google Shape;421;p51"/>
          <p:cNvCxnSpPr>
            <a:stCxn id="415" idx="6"/>
            <a:endCxn id="417" idx="0"/>
          </p:cNvCxnSpPr>
          <p:nvPr/>
        </p:nvCxnSpPr>
        <p:spPr>
          <a:xfrm>
            <a:off x="3781625" y="2187225"/>
            <a:ext cx="666600" cy="4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2" name="Google Shape;422;p51"/>
          <p:cNvCxnSpPr>
            <a:stCxn id="418" idx="3"/>
            <a:endCxn id="416" idx="7"/>
          </p:cNvCxnSpPr>
          <p:nvPr/>
        </p:nvCxnSpPr>
        <p:spPr>
          <a:xfrm flipH="1">
            <a:off x="5571849" y="3120001"/>
            <a:ext cx="1197600" cy="50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423" name="Google Shape;423;p51"/>
          <p:cNvCxnSpPr>
            <a:stCxn id="414" idx="5"/>
            <a:endCxn id="416" idx="2"/>
          </p:cNvCxnSpPr>
          <p:nvPr/>
        </p:nvCxnSpPr>
        <p:spPr>
          <a:xfrm>
            <a:off x="3309801" y="3497676"/>
            <a:ext cx="1881000" cy="28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424" name="Google Shape;424;p51"/>
          <p:cNvSpPr txBox="1"/>
          <p:nvPr/>
        </p:nvSpPr>
        <p:spPr>
          <a:xfrm>
            <a:off x="3934875" y="20821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25" name="Google Shape;425;p51"/>
          <p:cNvSpPr txBox="1"/>
          <p:nvPr/>
        </p:nvSpPr>
        <p:spPr>
          <a:xfrm>
            <a:off x="3488475" y="2660000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26" name="Google Shape;426;p51"/>
          <p:cNvSpPr txBox="1"/>
          <p:nvPr/>
        </p:nvSpPr>
        <p:spPr>
          <a:xfrm>
            <a:off x="2547675" y="26016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27" name="Google Shape;427;p51"/>
          <p:cNvSpPr txBox="1"/>
          <p:nvPr/>
        </p:nvSpPr>
        <p:spPr>
          <a:xfrm>
            <a:off x="4059750" y="3297200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428" name="Google Shape;428;p51"/>
          <p:cNvSpPr txBox="1"/>
          <p:nvPr/>
        </p:nvSpPr>
        <p:spPr>
          <a:xfrm>
            <a:off x="5801175" y="3000775"/>
            <a:ext cx="446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"/>
          <p:cNvSpPr/>
          <p:nvPr/>
        </p:nvSpPr>
        <p:spPr>
          <a:xfrm>
            <a:off x="11447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Задачи теории </a:t>
            </a:r>
            <a:r>
              <a:rPr lang="en-US" sz="3200">
                <a:solidFill>
                  <a:srgbClr val="4C5D6E"/>
                </a:solidFill>
              </a:rPr>
              <a:t>графов</a:t>
            </a:r>
            <a:endParaRPr/>
          </a:p>
        </p:txBody>
      </p:sp>
      <p:sp>
        <p:nvSpPr>
          <p:cNvPr id="434" name="Google Shape;434;p52"/>
          <p:cNvSpPr/>
          <p:nvPr/>
        </p:nvSpPr>
        <p:spPr>
          <a:xfrm>
            <a:off x="1144800" y="1641250"/>
            <a:ext cx="68544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Задача о семи мостах Кёнигсберга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Проблема четырёх красок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Задача коммивояжёра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"/>
          <p:cNvSpPr/>
          <p:nvPr/>
        </p:nvSpPr>
        <p:spPr>
          <a:xfrm>
            <a:off x="11447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Сферы применения теории графов</a:t>
            </a:r>
            <a:endParaRPr/>
          </a:p>
        </p:txBody>
      </p:sp>
      <p:sp>
        <p:nvSpPr>
          <p:cNvPr id="440" name="Google Shape;440;p53"/>
          <p:cNvSpPr/>
          <p:nvPr/>
        </p:nvSpPr>
        <p:spPr>
          <a:xfrm>
            <a:off x="1144800" y="1641250"/>
            <a:ext cx="68544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Химия (описание структур, путей сложных реакций)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Коммуникационные и транспортные системы (протоколы маршрутизации)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Схемотехника (топология межсоединений элементов на печатной плате или микросхеме)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Информатика и программирование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Экономика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Логистика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446" name="Google Shape;446;p54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Задача о семи мостах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Определение графа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Классификация графов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Сферы применения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452" name="Google Shape;452;p55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Представление графов в Python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Матрицы смежности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Списки смежности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Списки рёбер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sp>
        <p:nvSpPr>
          <p:cNvPr id="458" name="Google Shape;458;p56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459" name="Google Shape;459;p56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60" name="Google Shape;460;p56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61" name="Google Shape;461;p56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462" name="Google Shape;462;p56"/>
          <p:cNvCxnSpPr>
            <a:stCxn id="458" idx="5"/>
            <a:endCxn id="459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56"/>
          <p:cNvCxnSpPr>
            <a:stCxn id="458" idx="6"/>
            <a:endCxn id="460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6"/>
          <p:cNvCxnSpPr>
            <a:stCxn id="460" idx="5"/>
            <a:endCxn id="461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6"/>
          <p:cNvCxnSpPr>
            <a:stCxn id="460" idx="4"/>
            <a:endCxn id="459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graphicFrame>
        <p:nvGraphicFramePr>
          <p:cNvPr id="471" name="Google Shape;471;p57"/>
          <p:cNvGraphicFramePr/>
          <p:nvPr/>
        </p:nvGraphicFramePr>
        <p:xfrm>
          <a:off x="4690131" y="1908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34650"/>
                <a:gridCol w="677450"/>
                <a:gridCol w="677450"/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72" name="Google Shape;472;p57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473" name="Google Shape;473;p57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74" name="Google Shape;474;p57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75" name="Google Shape;475;p57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476" name="Google Shape;476;p57"/>
          <p:cNvCxnSpPr>
            <a:stCxn id="472" idx="5"/>
            <a:endCxn id="473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57"/>
          <p:cNvCxnSpPr>
            <a:stCxn id="472" idx="6"/>
            <a:endCxn id="474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57"/>
          <p:cNvCxnSpPr>
            <a:stCxn id="474" idx="5"/>
            <a:endCxn id="475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57"/>
          <p:cNvCxnSpPr>
            <a:stCxn id="474" idx="4"/>
            <a:endCxn id="473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sp>
        <p:nvSpPr>
          <p:cNvPr id="485" name="Google Shape;485;p58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486" name="Google Shape;486;p58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487" name="Google Shape;487;p58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488" name="Google Shape;488;p58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489" name="Google Shape;489;p58"/>
          <p:cNvCxnSpPr>
            <a:stCxn id="485" idx="5"/>
            <a:endCxn id="486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0" name="Google Shape;490;p58"/>
          <p:cNvCxnSpPr>
            <a:stCxn id="485" idx="6"/>
            <a:endCxn id="487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1" name="Google Shape;491;p58"/>
          <p:cNvCxnSpPr>
            <a:stCxn id="487" idx="5"/>
            <a:endCxn id="488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92" name="Google Shape;492;p58"/>
          <p:cNvCxnSpPr>
            <a:stCxn id="487" idx="4"/>
            <a:endCxn id="486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graphicFrame>
        <p:nvGraphicFramePr>
          <p:cNvPr id="498" name="Google Shape;498;p59"/>
          <p:cNvGraphicFramePr/>
          <p:nvPr/>
        </p:nvGraphicFramePr>
        <p:xfrm>
          <a:off x="4690131" y="1908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34650"/>
                <a:gridCol w="677450"/>
                <a:gridCol w="677450"/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59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00" name="Google Shape;500;p59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01" name="Google Shape;501;p59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02" name="Google Shape;502;p59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03" name="Google Shape;503;p59"/>
          <p:cNvCxnSpPr>
            <a:stCxn id="499" idx="5"/>
            <a:endCxn id="500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4" name="Google Shape;504;p59"/>
          <p:cNvCxnSpPr>
            <a:stCxn id="499" idx="6"/>
            <a:endCxn id="501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5" name="Google Shape;505;p59"/>
          <p:cNvCxnSpPr>
            <a:stCxn id="501" idx="5"/>
            <a:endCxn id="502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6" name="Google Shape;506;p59"/>
          <p:cNvCxnSpPr>
            <a:stCxn id="501" idx="4"/>
            <a:endCxn id="500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sp>
        <p:nvSpPr>
          <p:cNvPr id="512" name="Google Shape;512;p60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13" name="Google Shape;513;p60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14" name="Google Shape;514;p60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15" name="Google Shape;515;p60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16" name="Google Shape;516;p60"/>
          <p:cNvCxnSpPr>
            <a:stCxn id="512" idx="5"/>
            <a:endCxn id="513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7" name="Google Shape;517;p60"/>
          <p:cNvCxnSpPr>
            <a:stCxn id="512" idx="6"/>
            <a:endCxn id="514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8" name="Google Shape;518;p60"/>
          <p:cNvCxnSpPr>
            <a:stCxn id="514" idx="5"/>
            <a:endCxn id="515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9" name="Google Shape;519;p60"/>
          <p:cNvCxnSpPr>
            <a:stCxn id="514" idx="4"/>
            <a:endCxn id="513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20" name="Google Shape;520;p60"/>
          <p:cNvSpPr txBox="1"/>
          <p:nvPr/>
        </p:nvSpPr>
        <p:spPr>
          <a:xfrm>
            <a:off x="1703050" y="206702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21" name="Google Shape;521;p60"/>
          <p:cNvSpPr txBox="1"/>
          <p:nvPr/>
        </p:nvSpPr>
        <p:spPr>
          <a:xfrm>
            <a:off x="1572050" y="2711313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522" name="Google Shape;522;p60"/>
          <p:cNvSpPr txBox="1"/>
          <p:nvPr/>
        </p:nvSpPr>
        <p:spPr>
          <a:xfrm>
            <a:off x="2096013" y="2771788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23" name="Google Shape;523;p60"/>
          <p:cNvSpPr txBox="1"/>
          <p:nvPr/>
        </p:nvSpPr>
        <p:spPr>
          <a:xfrm>
            <a:off x="2881475" y="246927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Матрицы смежности</a:t>
            </a:r>
            <a:endParaRPr/>
          </a:p>
        </p:txBody>
      </p:sp>
      <p:graphicFrame>
        <p:nvGraphicFramePr>
          <p:cNvPr id="529" name="Google Shape;529;p61"/>
          <p:cNvGraphicFramePr/>
          <p:nvPr/>
        </p:nvGraphicFramePr>
        <p:xfrm>
          <a:off x="4690131" y="1908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34650"/>
                <a:gridCol w="677450"/>
                <a:gridCol w="677450"/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3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530" name="Google Shape;530;p61"/>
          <p:cNvSpPr/>
          <p:nvPr/>
        </p:nvSpPr>
        <p:spPr>
          <a:xfrm>
            <a:off x="1104625" y="23942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31" name="Google Shape;531;p61"/>
          <p:cNvSpPr/>
          <p:nvPr/>
        </p:nvSpPr>
        <p:spPr>
          <a:xfrm>
            <a:off x="1984925" y="3355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32" name="Google Shape;532;p61"/>
          <p:cNvSpPr/>
          <p:nvPr/>
        </p:nvSpPr>
        <p:spPr>
          <a:xfrm>
            <a:off x="2391375" y="22029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33" name="Google Shape;533;p61"/>
          <p:cNvSpPr/>
          <p:nvPr/>
        </p:nvSpPr>
        <p:spPr>
          <a:xfrm>
            <a:off x="3185150" y="30024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34" name="Google Shape;534;p61"/>
          <p:cNvCxnSpPr>
            <a:stCxn id="530" idx="5"/>
            <a:endCxn id="531" idx="1"/>
          </p:cNvCxnSpPr>
          <p:nvPr/>
        </p:nvCxnSpPr>
        <p:spPr>
          <a:xfrm>
            <a:off x="1485651" y="277525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5" name="Google Shape;535;p61"/>
          <p:cNvCxnSpPr>
            <a:stCxn id="530" idx="6"/>
            <a:endCxn id="532" idx="2"/>
          </p:cNvCxnSpPr>
          <p:nvPr/>
        </p:nvCxnSpPr>
        <p:spPr>
          <a:xfrm flipH="1" rot="10800000">
            <a:off x="1551025" y="242632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6" name="Google Shape;536;p61"/>
          <p:cNvCxnSpPr>
            <a:stCxn id="532" idx="5"/>
            <a:endCxn id="533" idx="1"/>
          </p:cNvCxnSpPr>
          <p:nvPr/>
        </p:nvCxnSpPr>
        <p:spPr>
          <a:xfrm>
            <a:off x="2772401" y="258400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7" name="Google Shape;537;p61"/>
          <p:cNvCxnSpPr>
            <a:stCxn id="532" idx="4"/>
            <a:endCxn id="531" idx="7"/>
          </p:cNvCxnSpPr>
          <p:nvPr/>
        </p:nvCxnSpPr>
        <p:spPr>
          <a:xfrm flipH="1">
            <a:off x="2365875" y="264937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538" name="Google Shape;538;p61"/>
          <p:cNvSpPr txBox="1"/>
          <p:nvPr/>
        </p:nvSpPr>
        <p:spPr>
          <a:xfrm>
            <a:off x="1703050" y="206702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39" name="Google Shape;539;p61"/>
          <p:cNvSpPr txBox="1"/>
          <p:nvPr/>
        </p:nvSpPr>
        <p:spPr>
          <a:xfrm>
            <a:off x="1572050" y="2711313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540" name="Google Shape;540;p61"/>
          <p:cNvSpPr txBox="1"/>
          <p:nvPr/>
        </p:nvSpPr>
        <p:spPr>
          <a:xfrm>
            <a:off x="2096013" y="2771788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41" name="Google Shape;541;p61"/>
          <p:cNvSpPr txBox="1"/>
          <p:nvPr/>
        </p:nvSpPr>
        <p:spPr>
          <a:xfrm>
            <a:off x="2881475" y="246927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2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Списки</a:t>
            </a:r>
            <a:r>
              <a:rPr lang="en-US" sz="3200">
                <a:solidFill>
                  <a:srgbClr val="4C5D6E"/>
                </a:solidFill>
              </a:rPr>
              <a:t> смежности</a:t>
            </a:r>
            <a:endParaRPr/>
          </a:p>
        </p:txBody>
      </p:sp>
      <p:graphicFrame>
        <p:nvGraphicFramePr>
          <p:cNvPr id="547" name="Google Shape;547;p62"/>
          <p:cNvGraphicFramePr/>
          <p:nvPr/>
        </p:nvGraphicFramePr>
        <p:xfrm>
          <a:off x="5031256" y="1922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34650"/>
                <a:gridCol w="677450"/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3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548" name="Google Shape;548;p62"/>
          <p:cNvSpPr/>
          <p:nvPr/>
        </p:nvSpPr>
        <p:spPr>
          <a:xfrm>
            <a:off x="1142400" y="2189213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49" name="Google Shape;549;p62"/>
          <p:cNvSpPr/>
          <p:nvPr/>
        </p:nvSpPr>
        <p:spPr>
          <a:xfrm>
            <a:off x="2022700" y="315058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50" name="Google Shape;550;p62"/>
          <p:cNvSpPr/>
          <p:nvPr/>
        </p:nvSpPr>
        <p:spPr>
          <a:xfrm>
            <a:off x="2429150" y="1997963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51" name="Google Shape;551;p62"/>
          <p:cNvSpPr/>
          <p:nvPr/>
        </p:nvSpPr>
        <p:spPr>
          <a:xfrm>
            <a:off x="3222925" y="27974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52" name="Google Shape;552;p62"/>
          <p:cNvCxnSpPr>
            <a:stCxn id="548" idx="5"/>
            <a:endCxn id="549" idx="1"/>
          </p:cNvCxnSpPr>
          <p:nvPr/>
        </p:nvCxnSpPr>
        <p:spPr>
          <a:xfrm>
            <a:off x="1523426" y="2570239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62"/>
          <p:cNvCxnSpPr>
            <a:stCxn id="548" idx="6"/>
            <a:endCxn id="550" idx="2"/>
          </p:cNvCxnSpPr>
          <p:nvPr/>
        </p:nvCxnSpPr>
        <p:spPr>
          <a:xfrm flipH="1" rot="10800000">
            <a:off x="1588800" y="2221313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62"/>
          <p:cNvCxnSpPr>
            <a:stCxn id="550" idx="5"/>
            <a:endCxn id="551" idx="1"/>
          </p:cNvCxnSpPr>
          <p:nvPr/>
        </p:nvCxnSpPr>
        <p:spPr>
          <a:xfrm>
            <a:off x="2810176" y="2378989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62"/>
          <p:cNvCxnSpPr>
            <a:stCxn id="550" idx="4"/>
            <a:endCxn id="549" idx="7"/>
          </p:cNvCxnSpPr>
          <p:nvPr/>
        </p:nvCxnSpPr>
        <p:spPr>
          <a:xfrm flipH="1">
            <a:off x="2403650" y="2444363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Списки смежности</a:t>
            </a:r>
            <a:endParaRPr/>
          </a:p>
        </p:txBody>
      </p:sp>
      <p:graphicFrame>
        <p:nvGraphicFramePr>
          <p:cNvPr id="561" name="Google Shape;561;p63"/>
          <p:cNvGraphicFramePr/>
          <p:nvPr/>
        </p:nvGraphicFramePr>
        <p:xfrm>
          <a:off x="5031256" y="1922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34650"/>
                <a:gridCol w="677450"/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0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1, 2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2, 3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1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0, 2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2, 2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3, 1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2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0, 3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1, 2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/>
                        <a:t>3</a:t>
                      </a:r>
                      <a:endParaRPr b="1" sz="18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u="none" cap="none" strike="noStrike"/>
                        <a:t>1, 1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562" name="Google Shape;562;p63"/>
          <p:cNvSpPr/>
          <p:nvPr/>
        </p:nvSpPr>
        <p:spPr>
          <a:xfrm>
            <a:off x="1142400" y="22571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63" name="Google Shape;563;p63"/>
          <p:cNvSpPr/>
          <p:nvPr/>
        </p:nvSpPr>
        <p:spPr>
          <a:xfrm>
            <a:off x="2022700" y="32185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64" name="Google Shape;564;p63"/>
          <p:cNvSpPr/>
          <p:nvPr/>
        </p:nvSpPr>
        <p:spPr>
          <a:xfrm>
            <a:off x="2429150" y="2065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65" name="Google Shape;565;p63"/>
          <p:cNvSpPr/>
          <p:nvPr/>
        </p:nvSpPr>
        <p:spPr>
          <a:xfrm>
            <a:off x="3222925" y="286543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66" name="Google Shape;566;p63"/>
          <p:cNvCxnSpPr>
            <a:stCxn id="562" idx="5"/>
            <a:endCxn id="563" idx="1"/>
          </p:cNvCxnSpPr>
          <p:nvPr/>
        </p:nvCxnSpPr>
        <p:spPr>
          <a:xfrm>
            <a:off x="1523426" y="263820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63"/>
          <p:cNvCxnSpPr>
            <a:stCxn id="562" idx="6"/>
            <a:endCxn id="564" idx="2"/>
          </p:cNvCxnSpPr>
          <p:nvPr/>
        </p:nvCxnSpPr>
        <p:spPr>
          <a:xfrm flipH="1" rot="10800000">
            <a:off x="1588800" y="228927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63"/>
          <p:cNvCxnSpPr>
            <a:stCxn id="564" idx="5"/>
            <a:endCxn id="565" idx="1"/>
          </p:cNvCxnSpPr>
          <p:nvPr/>
        </p:nvCxnSpPr>
        <p:spPr>
          <a:xfrm>
            <a:off x="2810176" y="244695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63"/>
          <p:cNvCxnSpPr>
            <a:stCxn id="564" idx="4"/>
            <a:endCxn id="563" idx="7"/>
          </p:cNvCxnSpPr>
          <p:nvPr/>
        </p:nvCxnSpPr>
        <p:spPr>
          <a:xfrm flipH="1">
            <a:off x="2403650" y="251232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63"/>
          <p:cNvSpPr txBox="1"/>
          <p:nvPr/>
        </p:nvSpPr>
        <p:spPr>
          <a:xfrm>
            <a:off x="1740825" y="192997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71" name="Google Shape;571;p63"/>
          <p:cNvSpPr txBox="1"/>
          <p:nvPr/>
        </p:nvSpPr>
        <p:spPr>
          <a:xfrm>
            <a:off x="1609825" y="2574263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572" name="Google Shape;572;p63"/>
          <p:cNvSpPr txBox="1"/>
          <p:nvPr/>
        </p:nvSpPr>
        <p:spPr>
          <a:xfrm>
            <a:off x="2133788" y="2634738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73" name="Google Shape;573;p63"/>
          <p:cNvSpPr txBox="1"/>
          <p:nvPr/>
        </p:nvSpPr>
        <p:spPr>
          <a:xfrm>
            <a:off x="2919250" y="2332225"/>
            <a:ext cx="4782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4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Список рёбер</a:t>
            </a:r>
            <a:endParaRPr/>
          </a:p>
        </p:txBody>
      </p:sp>
      <p:graphicFrame>
        <p:nvGraphicFramePr>
          <p:cNvPr id="579" name="Google Shape;579;p64"/>
          <p:cNvGraphicFramePr/>
          <p:nvPr/>
        </p:nvGraphicFramePr>
        <p:xfrm>
          <a:off x="6119944" y="17766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{D32C99E3-58AD-4078-B56A-07A8A87B5844}</a:tableStyleId>
              </a:tblPr>
              <a:tblGrid>
                <a:gridCol w="677450"/>
                <a:gridCol w="677450"/>
              </a:tblGrid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0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1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/>
                        <a:t>2</a:t>
                      </a:r>
                      <a:endParaRPr sz="1600" u="none" cap="none" strike="noStrike">
                        <a:solidFill>
                          <a:srgbClr val="2C2D30"/>
                        </a:solidFill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 sz="16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  <a:tr h="43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 sz="1600"/>
                    </a:p>
                  </a:txBody>
                  <a:tcPr marT="0" marB="0" marR="68575" marL="68575" anchor="ctr">
                    <a:lnL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4C5D6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580" name="Google Shape;580;p64"/>
          <p:cNvSpPr/>
          <p:nvPr/>
        </p:nvSpPr>
        <p:spPr>
          <a:xfrm>
            <a:off x="1142388" y="22620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581" name="Google Shape;581;p64"/>
          <p:cNvSpPr/>
          <p:nvPr/>
        </p:nvSpPr>
        <p:spPr>
          <a:xfrm>
            <a:off x="2022688" y="32234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582" name="Google Shape;582;p64"/>
          <p:cNvSpPr/>
          <p:nvPr/>
        </p:nvSpPr>
        <p:spPr>
          <a:xfrm>
            <a:off x="2429138" y="20708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583" name="Google Shape;583;p64"/>
          <p:cNvSpPr/>
          <p:nvPr/>
        </p:nvSpPr>
        <p:spPr>
          <a:xfrm>
            <a:off x="3222913" y="2870338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cxnSp>
        <p:nvCxnSpPr>
          <p:cNvPr id="584" name="Google Shape;584;p64"/>
          <p:cNvCxnSpPr>
            <a:stCxn id="580" idx="5"/>
            <a:endCxn id="581" idx="1"/>
          </p:cNvCxnSpPr>
          <p:nvPr/>
        </p:nvCxnSpPr>
        <p:spPr>
          <a:xfrm>
            <a:off x="1523414" y="2643101"/>
            <a:ext cx="564600" cy="64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64"/>
          <p:cNvCxnSpPr>
            <a:stCxn id="580" idx="6"/>
            <a:endCxn id="582" idx="2"/>
          </p:cNvCxnSpPr>
          <p:nvPr/>
        </p:nvCxnSpPr>
        <p:spPr>
          <a:xfrm flipH="1" rot="10800000">
            <a:off x="1588788" y="2294175"/>
            <a:ext cx="840300" cy="19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6" name="Google Shape;586;p64"/>
          <p:cNvCxnSpPr>
            <a:stCxn id="582" idx="5"/>
            <a:endCxn id="583" idx="1"/>
          </p:cNvCxnSpPr>
          <p:nvPr/>
        </p:nvCxnSpPr>
        <p:spPr>
          <a:xfrm>
            <a:off x="2810164" y="2451851"/>
            <a:ext cx="478200" cy="4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7" name="Google Shape;587;p64"/>
          <p:cNvCxnSpPr>
            <a:stCxn id="582" idx="4"/>
            <a:endCxn id="581" idx="7"/>
          </p:cNvCxnSpPr>
          <p:nvPr/>
        </p:nvCxnSpPr>
        <p:spPr>
          <a:xfrm flipH="1">
            <a:off x="2403638" y="2517225"/>
            <a:ext cx="248700" cy="77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5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593" name="Google Shape;593;p65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Представление графов в Python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Матрицы смежности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Списки смежности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○"/>
            </a:pPr>
            <a:r>
              <a:rPr lang="en-US" sz="1600">
                <a:solidFill>
                  <a:srgbClr val="2C2D30"/>
                </a:solidFill>
              </a:rPr>
              <a:t>Списки рёбер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6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599" name="Google Shape;599;p66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Поиск кратчайшего пути в ширину (Breadth-First Search)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7"/>
          <p:cNvSpPr/>
          <p:nvPr/>
        </p:nvSpPr>
        <p:spPr>
          <a:xfrm>
            <a:off x="1142400" y="571450"/>
            <a:ext cx="68544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Поиск кратчайшего пути в ширину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05" name="Google Shape;605;p67"/>
          <p:cNvSpPr txBox="1"/>
          <p:nvPr/>
        </p:nvSpPr>
        <p:spPr>
          <a:xfrm>
            <a:off x="618600" y="1299550"/>
            <a:ext cx="7906800" cy="3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Поместить вершину, с которого начинается поиск, в пустую очередь.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Извлечь из начала очереди вершину.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lphaLcPeriod"/>
            </a:pPr>
            <a:r>
              <a:rPr lang="en-US" sz="1600">
                <a:solidFill>
                  <a:srgbClr val="2C2D30"/>
                </a:solidFill>
              </a:rPr>
              <a:t>Если вершина является целевой, то завершить поиск.</a:t>
            </a:r>
            <a:endParaRPr sz="1600">
              <a:solidFill>
                <a:srgbClr val="2C2D30"/>
              </a:solidFill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lphaLcPeriod"/>
            </a:pPr>
            <a:r>
              <a:rPr lang="en-US" sz="1600">
                <a:solidFill>
                  <a:srgbClr val="2C2D30"/>
                </a:solidFill>
              </a:rPr>
              <a:t>В противном случае, в конец очереди добавляются все смежные вершины, которые ещё не пройдены и не находятся в очереди. </a:t>
            </a:r>
            <a:endParaRPr sz="1600">
              <a:solidFill>
                <a:srgbClr val="2C2D30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>
                <a:solidFill>
                  <a:srgbClr val="2C2D30"/>
                </a:solidFill>
              </a:rPr>
              <a:t>Если очередь пуста, то все вершины графа были просмотрены, следовательно, целевой узел недостижим из начального; завершить поиск.</a:t>
            </a:r>
            <a:endParaRPr sz="160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Поиск кратчайшего пути в ширину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11" name="Google Shape;611;p68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612" name="Google Shape;612;p68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13" name="Google Shape;613;p68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14" name="Google Shape;614;p68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615" name="Google Shape;615;p68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16" name="Google Shape;616;p68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617" name="Google Shape;617;p68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618" name="Google Shape;618;p68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619" name="Google Shape;619;p68"/>
          <p:cNvCxnSpPr>
            <a:endCxn id="611" idx="3"/>
          </p:cNvCxnSpPr>
          <p:nvPr/>
        </p:nvCxnSpPr>
        <p:spPr>
          <a:xfrm flipH="1" rot="10800000">
            <a:off x="3914374" y="1898651"/>
            <a:ext cx="49740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68"/>
          <p:cNvCxnSpPr>
            <a:stCxn id="611" idx="5"/>
            <a:endCxn id="612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68"/>
          <p:cNvCxnSpPr>
            <a:stCxn id="612" idx="5"/>
            <a:endCxn id="614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68"/>
          <p:cNvCxnSpPr>
            <a:stCxn id="615" idx="5"/>
            <a:endCxn id="618" idx="2"/>
          </p:cNvCxnSpPr>
          <p:nvPr/>
        </p:nvCxnSpPr>
        <p:spPr>
          <a:xfrm>
            <a:off x="2833439" y="3181826"/>
            <a:ext cx="6999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68"/>
          <p:cNvCxnSpPr>
            <a:stCxn id="618" idx="5"/>
            <a:endCxn id="616" idx="1"/>
          </p:cNvCxnSpPr>
          <p:nvPr/>
        </p:nvCxnSpPr>
        <p:spPr>
          <a:xfrm>
            <a:off x="3914389" y="3768176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68"/>
          <p:cNvCxnSpPr>
            <a:stCxn id="616" idx="7"/>
            <a:endCxn id="617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68"/>
          <p:cNvCxnSpPr>
            <a:stCxn id="618" idx="6"/>
            <a:endCxn id="617" idx="2"/>
          </p:cNvCxnSpPr>
          <p:nvPr/>
        </p:nvCxnSpPr>
        <p:spPr>
          <a:xfrm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68"/>
          <p:cNvCxnSpPr>
            <a:stCxn id="617" idx="6"/>
            <a:endCxn id="614" idx="3"/>
          </p:cNvCxnSpPr>
          <p:nvPr/>
        </p:nvCxnSpPr>
        <p:spPr>
          <a:xfrm flipH="1" rot="10800000">
            <a:off x="5649863" y="3181950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68"/>
          <p:cNvCxnSpPr>
            <a:stCxn id="611" idx="6"/>
            <a:endCxn id="614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633" name="Google Shape;633;p69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</a:t>
            </a:r>
            <a:r>
              <a:rPr b="1" lang="en-US" sz="1800">
                <a:solidFill>
                  <a:srgbClr val="2C2D30"/>
                </a:solidFill>
              </a:rPr>
              <a:t>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Поиск кратчайшего пути в ширину (Breadth-First Search)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0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639" name="Google Shape;639;p70"/>
          <p:cNvSpPr/>
          <p:nvPr/>
        </p:nvSpPr>
        <p:spPr>
          <a:xfrm>
            <a:off x="1142375" y="1394025"/>
            <a:ext cx="68544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Поиск кратчайшего пути по а</a:t>
            </a:r>
            <a:r>
              <a:rPr lang="en-US" sz="1600">
                <a:solidFill>
                  <a:srgbClr val="2C2D30"/>
                </a:solidFill>
              </a:rPr>
              <a:t>лгоритму Дейкстры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1"/>
          <p:cNvSpPr/>
          <p:nvPr/>
        </p:nvSpPr>
        <p:spPr>
          <a:xfrm>
            <a:off x="1142400" y="571450"/>
            <a:ext cx="68544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45" name="Google Shape;645;p71"/>
          <p:cNvSpPr/>
          <p:nvPr/>
        </p:nvSpPr>
        <p:spPr>
          <a:xfrm>
            <a:off x="3809025" y="1394025"/>
            <a:ext cx="4366800" cy="27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C2D30"/>
                </a:solidFill>
              </a:rPr>
              <a:t>Н</a:t>
            </a:r>
            <a:r>
              <a:rPr lang="en-US" sz="1600">
                <a:solidFill>
                  <a:srgbClr val="2C2D30"/>
                </a:solidFill>
              </a:rPr>
              <a:t>идерландский учёный Эдсгер Дейкстра изобрёл в 1959 году алгоритм нахождения кратчайшего пути от одной из вершин графа до всех остальных. </a:t>
            </a:r>
            <a:endParaRPr sz="1600">
              <a:solidFill>
                <a:srgbClr val="2C2D30"/>
              </a:solidFill>
            </a:endParaRPr>
          </a:p>
        </p:txBody>
      </p:sp>
      <p:pic>
        <p:nvPicPr>
          <p:cNvPr id="646" name="Google Shape;6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175" y="1226950"/>
            <a:ext cx="2157700" cy="30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2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52" name="Google Shape;652;p72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653" name="Google Shape;653;p72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54" name="Google Shape;654;p72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55" name="Google Shape;655;p72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656" name="Google Shape;656;p72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57" name="Google Shape;657;p72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658" name="Google Shape;658;p72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659" name="Google Shape;659;p72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660" name="Google Shape;660;p72"/>
          <p:cNvCxnSpPr>
            <a:stCxn id="652" idx="5"/>
            <a:endCxn id="653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1" name="Google Shape;661;p72"/>
          <p:cNvCxnSpPr>
            <a:stCxn id="653" idx="5"/>
            <a:endCxn id="655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72"/>
          <p:cNvCxnSpPr>
            <a:stCxn id="652" idx="6"/>
            <a:endCxn id="655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72"/>
          <p:cNvCxnSpPr>
            <a:stCxn id="652" idx="2"/>
            <a:endCxn id="656" idx="0"/>
          </p:cNvCxnSpPr>
          <p:nvPr/>
        </p:nvCxnSpPr>
        <p:spPr>
          <a:xfrm flipH="1">
            <a:off x="26757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4" name="Google Shape;664;p72"/>
          <p:cNvCxnSpPr>
            <a:stCxn id="654" idx="2"/>
            <a:endCxn id="656" idx="7"/>
          </p:cNvCxnSpPr>
          <p:nvPr/>
        </p:nvCxnSpPr>
        <p:spPr>
          <a:xfrm flipH="1">
            <a:off x="2833463" y="2400125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5" name="Google Shape;665;p72"/>
          <p:cNvCxnSpPr>
            <a:stCxn id="654" idx="5"/>
            <a:endCxn id="658" idx="1"/>
          </p:cNvCxnSpPr>
          <p:nvPr/>
        </p:nvCxnSpPr>
        <p:spPr>
          <a:xfrm>
            <a:off x="3914389" y="2557951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6" name="Google Shape;666;p72"/>
          <p:cNvCxnSpPr>
            <a:stCxn id="654" idx="6"/>
            <a:endCxn id="653" idx="2"/>
          </p:cNvCxnSpPr>
          <p:nvPr/>
        </p:nvCxnSpPr>
        <p:spPr>
          <a:xfrm>
            <a:off x="3979763" y="24001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67" name="Google Shape;667;p72"/>
          <p:cNvCxnSpPr>
            <a:stCxn id="653" idx="4"/>
            <a:endCxn id="658" idx="0"/>
          </p:cNvCxnSpPr>
          <p:nvPr/>
        </p:nvCxnSpPr>
        <p:spPr>
          <a:xfrm>
            <a:off x="5426663" y="26233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68" name="Google Shape;668;p72"/>
          <p:cNvCxnSpPr>
            <a:stCxn id="655" idx="3"/>
            <a:endCxn id="658" idx="6"/>
          </p:cNvCxnSpPr>
          <p:nvPr/>
        </p:nvCxnSpPr>
        <p:spPr>
          <a:xfrm flipH="1">
            <a:off x="5649961" y="31818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69" name="Google Shape;669;p72"/>
          <p:cNvCxnSpPr>
            <a:stCxn id="658" idx="2"/>
            <a:endCxn id="659" idx="6"/>
          </p:cNvCxnSpPr>
          <p:nvPr/>
        </p:nvCxnSpPr>
        <p:spPr>
          <a:xfrm rot="10800000"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70" name="Google Shape;670;p72"/>
          <p:cNvCxnSpPr>
            <a:stCxn id="657" idx="1"/>
            <a:endCxn id="659" idx="5"/>
          </p:cNvCxnSpPr>
          <p:nvPr/>
        </p:nvCxnSpPr>
        <p:spPr>
          <a:xfrm rot="10800000">
            <a:off x="3914511" y="3768274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1" name="Google Shape;671;p72"/>
          <p:cNvCxnSpPr>
            <a:stCxn id="657" idx="7"/>
            <a:endCxn id="658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2" name="Google Shape;672;p72"/>
          <p:cNvSpPr txBox="1"/>
          <p:nvPr/>
        </p:nvSpPr>
        <p:spPr>
          <a:xfrm>
            <a:off x="3056700" y="1714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73" name="Google Shape;673;p72"/>
          <p:cNvSpPr txBox="1"/>
          <p:nvPr/>
        </p:nvSpPr>
        <p:spPr>
          <a:xfrm>
            <a:off x="50230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74" name="Google Shape;674;p72"/>
          <p:cNvSpPr txBox="1"/>
          <p:nvPr/>
        </p:nvSpPr>
        <p:spPr>
          <a:xfrm>
            <a:off x="4540938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675" name="Google Shape;675;p72"/>
          <p:cNvSpPr txBox="1"/>
          <p:nvPr/>
        </p:nvSpPr>
        <p:spPr>
          <a:xfrm>
            <a:off x="4290313" y="206163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676" name="Google Shape;676;p72"/>
          <p:cNvSpPr txBox="1"/>
          <p:nvPr/>
        </p:nvSpPr>
        <p:spPr>
          <a:xfrm>
            <a:off x="5774738" y="24551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77" name="Google Shape;677;p72"/>
          <p:cNvSpPr txBox="1"/>
          <p:nvPr/>
        </p:nvSpPr>
        <p:spPr>
          <a:xfrm>
            <a:off x="5777825" y="17285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678" name="Google Shape;678;p72"/>
          <p:cNvSpPr txBox="1"/>
          <p:nvPr/>
        </p:nvSpPr>
        <p:spPr>
          <a:xfrm>
            <a:off x="4903925" y="18047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79" name="Google Shape;679;p72"/>
          <p:cNvSpPr txBox="1"/>
          <p:nvPr/>
        </p:nvSpPr>
        <p:spPr>
          <a:xfrm>
            <a:off x="2941763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680" name="Google Shape;680;p72"/>
          <p:cNvSpPr txBox="1"/>
          <p:nvPr/>
        </p:nvSpPr>
        <p:spPr>
          <a:xfrm>
            <a:off x="6039350" y="31966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681" name="Google Shape;681;p72"/>
          <p:cNvSpPr txBox="1"/>
          <p:nvPr/>
        </p:nvSpPr>
        <p:spPr>
          <a:xfrm>
            <a:off x="5584250" y="31818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82" name="Google Shape;682;p72"/>
          <p:cNvSpPr txBox="1"/>
          <p:nvPr/>
        </p:nvSpPr>
        <p:spPr>
          <a:xfrm>
            <a:off x="5354113" y="2724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683" name="Google Shape;683;p72"/>
          <p:cNvSpPr txBox="1"/>
          <p:nvPr/>
        </p:nvSpPr>
        <p:spPr>
          <a:xfrm>
            <a:off x="5117175" y="28820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684" name="Google Shape;684;p72"/>
          <p:cNvSpPr txBox="1"/>
          <p:nvPr/>
        </p:nvSpPr>
        <p:spPr>
          <a:xfrm>
            <a:off x="4497450" y="2703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685" name="Google Shape;685;p72"/>
          <p:cNvSpPr txBox="1"/>
          <p:nvPr/>
        </p:nvSpPr>
        <p:spPr>
          <a:xfrm>
            <a:off x="38391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86" name="Google Shape;686;p72"/>
          <p:cNvSpPr txBox="1"/>
          <p:nvPr/>
        </p:nvSpPr>
        <p:spPr>
          <a:xfrm>
            <a:off x="4682200" y="3562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687" name="Google Shape;687;p72"/>
          <p:cNvSpPr txBox="1"/>
          <p:nvPr/>
        </p:nvSpPr>
        <p:spPr>
          <a:xfrm>
            <a:off x="4083700" y="3322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3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693" name="Google Shape;693;p73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94" name="Google Shape;694;p73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695" name="Google Shape;695;p73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696" name="Google Shape;696;p73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697" name="Google Shape;697;p73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698" name="Google Shape;698;p73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699" name="Google Shape;699;p73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700" name="Google Shape;700;p73"/>
          <p:cNvCxnSpPr>
            <a:stCxn id="692" idx="5"/>
            <a:endCxn id="693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73"/>
          <p:cNvCxnSpPr>
            <a:stCxn id="693" idx="5"/>
            <a:endCxn id="695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2" name="Google Shape;702;p73"/>
          <p:cNvCxnSpPr>
            <a:stCxn id="692" idx="6"/>
            <a:endCxn id="695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3" name="Google Shape;703;p73"/>
          <p:cNvCxnSpPr>
            <a:stCxn id="692" idx="2"/>
            <a:endCxn id="696" idx="0"/>
          </p:cNvCxnSpPr>
          <p:nvPr/>
        </p:nvCxnSpPr>
        <p:spPr>
          <a:xfrm flipH="1">
            <a:off x="26757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4" name="Google Shape;704;p73"/>
          <p:cNvCxnSpPr>
            <a:stCxn id="694" idx="2"/>
            <a:endCxn id="696" idx="7"/>
          </p:cNvCxnSpPr>
          <p:nvPr/>
        </p:nvCxnSpPr>
        <p:spPr>
          <a:xfrm flipH="1">
            <a:off x="2833463" y="2400125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5" name="Google Shape;705;p73"/>
          <p:cNvCxnSpPr>
            <a:stCxn id="694" idx="5"/>
            <a:endCxn id="698" idx="1"/>
          </p:cNvCxnSpPr>
          <p:nvPr/>
        </p:nvCxnSpPr>
        <p:spPr>
          <a:xfrm>
            <a:off x="3914389" y="2557951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73"/>
          <p:cNvCxnSpPr>
            <a:stCxn id="694" idx="6"/>
            <a:endCxn id="693" idx="2"/>
          </p:cNvCxnSpPr>
          <p:nvPr/>
        </p:nvCxnSpPr>
        <p:spPr>
          <a:xfrm>
            <a:off x="3979763" y="24001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07" name="Google Shape;707;p73"/>
          <p:cNvCxnSpPr>
            <a:stCxn id="693" idx="4"/>
            <a:endCxn id="698" idx="0"/>
          </p:cNvCxnSpPr>
          <p:nvPr/>
        </p:nvCxnSpPr>
        <p:spPr>
          <a:xfrm>
            <a:off x="5426663" y="26233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08" name="Google Shape;708;p73"/>
          <p:cNvCxnSpPr>
            <a:stCxn id="695" idx="3"/>
            <a:endCxn id="698" idx="6"/>
          </p:cNvCxnSpPr>
          <p:nvPr/>
        </p:nvCxnSpPr>
        <p:spPr>
          <a:xfrm flipH="1">
            <a:off x="5649961" y="31818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09" name="Google Shape;709;p73"/>
          <p:cNvCxnSpPr>
            <a:stCxn id="698" idx="2"/>
            <a:endCxn id="699" idx="6"/>
          </p:cNvCxnSpPr>
          <p:nvPr/>
        </p:nvCxnSpPr>
        <p:spPr>
          <a:xfrm rot="10800000"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10" name="Google Shape;710;p73"/>
          <p:cNvCxnSpPr>
            <a:stCxn id="697" idx="1"/>
            <a:endCxn id="699" idx="5"/>
          </p:cNvCxnSpPr>
          <p:nvPr/>
        </p:nvCxnSpPr>
        <p:spPr>
          <a:xfrm rot="10800000">
            <a:off x="3914511" y="3768274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1" name="Google Shape;711;p73"/>
          <p:cNvCxnSpPr>
            <a:stCxn id="697" idx="7"/>
            <a:endCxn id="698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2" name="Google Shape;712;p73"/>
          <p:cNvSpPr txBox="1"/>
          <p:nvPr/>
        </p:nvSpPr>
        <p:spPr>
          <a:xfrm>
            <a:off x="3056700" y="1714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13" name="Google Shape;713;p73"/>
          <p:cNvSpPr txBox="1"/>
          <p:nvPr/>
        </p:nvSpPr>
        <p:spPr>
          <a:xfrm>
            <a:off x="50230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14" name="Google Shape;714;p73"/>
          <p:cNvSpPr txBox="1"/>
          <p:nvPr/>
        </p:nvSpPr>
        <p:spPr>
          <a:xfrm>
            <a:off x="4540938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15" name="Google Shape;715;p73"/>
          <p:cNvSpPr txBox="1"/>
          <p:nvPr/>
        </p:nvSpPr>
        <p:spPr>
          <a:xfrm>
            <a:off x="4290313" y="206163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16" name="Google Shape;716;p73"/>
          <p:cNvSpPr txBox="1"/>
          <p:nvPr/>
        </p:nvSpPr>
        <p:spPr>
          <a:xfrm>
            <a:off x="5774738" y="24551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717" name="Google Shape;717;p73"/>
          <p:cNvSpPr txBox="1"/>
          <p:nvPr/>
        </p:nvSpPr>
        <p:spPr>
          <a:xfrm>
            <a:off x="5777825" y="17285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18" name="Google Shape;718;p73"/>
          <p:cNvSpPr txBox="1"/>
          <p:nvPr/>
        </p:nvSpPr>
        <p:spPr>
          <a:xfrm>
            <a:off x="4903925" y="18047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19" name="Google Shape;719;p73"/>
          <p:cNvSpPr txBox="1"/>
          <p:nvPr/>
        </p:nvSpPr>
        <p:spPr>
          <a:xfrm>
            <a:off x="2941763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720" name="Google Shape;720;p73"/>
          <p:cNvSpPr txBox="1"/>
          <p:nvPr/>
        </p:nvSpPr>
        <p:spPr>
          <a:xfrm>
            <a:off x="6039350" y="31966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721" name="Google Shape;721;p73"/>
          <p:cNvSpPr txBox="1"/>
          <p:nvPr/>
        </p:nvSpPr>
        <p:spPr>
          <a:xfrm>
            <a:off x="5584250" y="31818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22" name="Google Shape;722;p73"/>
          <p:cNvSpPr txBox="1"/>
          <p:nvPr/>
        </p:nvSpPr>
        <p:spPr>
          <a:xfrm>
            <a:off x="5354113" y="2724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723" name="Google Shape;723;p73"/>
          <p:cNvSpPr txBox="1"/>
          <p:nvPr/>
        </p:nvSpPr>
        <p:spPr>
          <a:xfrm>
            <a:off x="5117175" y="28820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724" name="Google Shape;724;p73"/>
          <p:cNvSpPr txBox="1"/>
          <p:nvPr/>
        </p:nvSpPr>
        <p:spPr>
          <a:xfrm>
            <a:off x="4497450" y="2703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725" name="Google Shape;725;p73"/>
          <p:cNvSpPr txBox="1"/>
          <p:nvPr/>
        </p:nvSpPr>
        <p:spPr>
          <a:xfrm>
            <a:off x="38391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26" name="Google Shape;726;p73"/>
          <p:cNvSpPr txBox="1"/>
          <p:nvPr/>
        </p:nvSpPr>
        <p:spPr>
          <a:xfrm>
            <a:off x="4682200" y="3562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727" name="Google Shape;727;p73"/>
          <p:cNvSpPr txBox="1"/>
          <p:nvPr/>
        </p:nvSpPr>
        <p:spPr>
          <a:xfrm>
            <a:off x="4083700" y="3322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28" name="Google Shape;728;p73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pic>
        <p:nvPicPr>
          <p:cNvPr id="729" name="Google Shape;72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70150" y="435540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07263" y="315300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82450" y="259155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57225" y="1843525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84450" y="3639175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93725" y="1984037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86900" y="2724525"/>
            <a:ext cx="398700" cy="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73"/>
          <p:cNvSpPr txBox="1"/>
          <p:nvPr/>
        </p:nvSpPr>
        <p:spPr>
          <a:xfrm>
            <a:off x="4468500" y="12468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0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4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742" name="Google Shape;742;p74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43" name="Google Shape;743;p74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44" name="Google Shape;744;p74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745" name="Google Shape;745;p74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746" name="Google Shape;746;p74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747" name="Google Shape;747;p74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748" name="Google Shape;748;p74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749" name="Google Shape;749;p74"/>
          <p:cNvCxnSpPr>
            <a:stCxn id="741" idx="5"/>
            <a:endCxn id="742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0" name="Google Shape;750;p74"/>
          <p:cNvCxnSpPr>
            <a:stCxn id="742" idx="5"/>
            <a:endCxn id="744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1" name="Google Shape;751;p74"/>
          <p:cNvCxnSpPr>
            <a:stCxn id="741" idx="6"/>
            <a:endCxn id="744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2" name="Google Shape;752;p74"/>
          <p:cNvCxnSpPr>
            <a:stCxn id="741" idx="2"/>
            <a:endCxn id="745" idx="0"/>
          </p:cNvCxnSpPr>
          <p:nvPr/>
        </p:nvCxnSpPr>
        <p:spPr>
          <a:xfrm flipH="1">
            <a:off x="26757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3" name="Google Shape;753;p74"/>
          <p:cNvCxnSpPr>
            <a:stCxn id="743" idx="2"/>
            <a:endCxn id="745" idx="7"/>
          </p:cNvCxnSpPr>
          <p:nvPr/>
        </p:nvCxnSpPr>
        <p:spPr>
          <a:xfrm flipH="1">
            <a:off x="2833463" y="2400125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4" name="Google Shape;754;p74"/>
          <p:cNvCxnSpPr>
            <a:stCxn id="743" idx="5"/>
            <a:endCxn id="747" idx="1"/>
          </p:cNvCxnSpPr>
          <p:nvPr/>
        </p:nvCxnSpPr>
        <p:spPr>
          <a:xfrm>
            <a:off x="3914389" y="2557951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5" name="Google Shape;755;p74"/>
          <p:cNvCxnSpPr>
            <a:stCxn id="743" idx="6"/>
            <a:endCxn id="742" idx="2"/>
          </p:cNvCxnSpPr>
          <p:nvPr/>
        </p:nvCxnSpPr>
        <p:spPr>
          <a:xfrm>
            <a:off x="3979763" y="24001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56" name="Google Shape;756;p74"/>
          <p:cNvCxnSpPr>
            <a:stCxn id="742" idx="4"/>
            <a:endCxn id="747" idx="0"/>
          </p:cNvCxnSpPr>
          <p:nvPr/>
        </p:nvCxnSpPr>
        <p:spPr>
          <a:xfrm>
            <a:off x="5426663" y="26233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57" name="Google Shape;757;p74"/>
          <p:cNvCxnSpPr>
            <a:stCxn id="744" idx="3"/>
            <a:endCxn id="747" idx="6"/>
          </p:cNvCxnSpPr>
          <p:nvPr/>
        </p:nvCxnSpPr>
        <p:spPr>
          <a:xfrm flipH="1">
            <a:off x="5649961" y="31818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58" name="Google Shape;758;p74"/>
          <p:cNvCxnSpPr>
            <a:stCxn id="747" idx="2"/>
            <a:endCxn id="748" idx="6"/>
          </p:cNvCxnSpPr>
          <p:nvPr/>
        </p:nvCxnSpPr>
        <p:spPr>
          <a:xfrm rot="10800000"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59" name="Google Shape;759;p74"/>
          <p:cNvCxnSpPr>
            <a:stCxn id="746" idx="1"/>
            <a:endCxn id="748" idx="5"/>
          </p:cNvCxnSpPr>
          <p:nvPr/>
        </p:nvCxnSpPr>
        <p:spPr>
          <a:xfrm rot="10800000">
            <a:off x="3914511" y="3768274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0" name="Google Shape;760;p74"/>
          <p:cNvCxnSpPr>
            <a:stCxn id="746" idx="7"/>
            <a:endCxn id="747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1" name="Google Shape;761;p74"/>
          <p:cNvSpPr txBox="1"/>
          <p:nvPr/>
        </p:nvSpPr>
        <p:spPr>
          <a:xfrm>
            <a:off x="3056700" y="1714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62" name="Google Shape;762;p74"/>
          <p:cNvSpPr txBox="1"/>
          <p:nvPr/>
        </p:nvSpPr>
        <p:spPr>
          <a:xfrm>
            <a:off x="50230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63" name="Google Shape;763;p74"/>
          <p:cNvSpPr txBox="1"/>
          <p:nvPr/>
        </p:nvSpPr>
        <p:spPr>
          <a:xfrm>
            <a:off x="4540938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64" name="Google Shape;764;p74"/>
          <p:cNvSpPr txBox="1"/>
          <p:nvPr/>
        </p:nvSpPr>
        <p:spPr>
          <a:xfrm>
            <a:off x="4290313" y="206163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65" name="Google Shape;765;p74"/>
          <p:cNvSpPr txBox="1"/>
          <p:nvPr/>
        </p:nvSpPr>
        <p:spPr>
          <a:xfrm>
            <a:off x="5774738" y="24551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766" name="Google Shape;766;p74"/>
          <p:cNvSpPr txBox="1"/>
          <p:nvPr/>
        </p:nvSpPr>
        <p:spPr>
          <a:xfrm>
            <a:off x="5777825" y="17285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767" name="Google Shape;767;p74"/>
          <p:cNvSpPr txBox="1"/>
          <p:nvPr/>
        </p:nvSpPr>
        <p:spPr>
          <a:xfrm>
            <a:off x="4903925" y="18047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68" name="Google Shape;768;p74"/>
          <p:cNvSpPr txBox="1"/>
          <p:nvPr/>
        </p:nvSpPr>
        <p:spPr>
          <a:xfrm>
            <a:off x="2941763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769" name="Google Shape;769;p74"/>
          <p:cNvSpPr txBox="1"/>
          <p:nvPr/>
        </p:nvSpPr>
        <p:spPr>
          <a:xfrm>
            <a:off x="6039350" y="31966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770" name="Google Shape;770;p74"/>
          <p:cNvSpPr txBox="1"/>
          <p:nvPr/>
        </p:nvSpPr>
        <p:spPr>
          <a:xfrm>
            <a:off x="5584250" y="31818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71" name="Google Shape;771;p74"/>
          <p:cNvSpPr txBox="1"/>
          <p:nvPr/>
        </p:nvSpPr>
        <p:spPr>
          <a:xfrm>
            <a:off x="5354113" y="2724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772" name="Google Shape;772;p74"/>
          <p:cNvSpPr txBox="1"/>
          <p:nvPr/>
        </p:nvSpPr>
        <p:spPr>
          <a:xfrm>
            <a:off x="5117175" y="28820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773" name="Google Shape;773;p74"/>
          <p:cNvSpPr txBox="1"/>
          <p:nvPr/>
        </p:nvSpPr>
        <p:spPr>
          <a:xfrm>
            <a:off x="4497450" y="2703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774" name="Google Shape;774;p74"/>
          <p:cNvSpPr txBox="1"/>
          <p:nvPr/>
        </p:nvSpPr>
        <p:spPr>
          <a:xfrm>
            <a:off x="38391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75" name="Google Shape;775;p74"/>
          <p:cNvSpPr txBox="1"/>
          <p:nvPr/>
        </p:nvSpPr>
        <p:spPr>
          <a:xfrm>
            <a:off x="4682200" y="3562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776" name="Google Shape;776;p74"/>
          <p:cNvSpPr txBox="1"/>
          <p:nvPr/>
        </p:nvSpPr>
        <p:spPr>
          <a:xfrm>
            <a:off x="4083700" y="3322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77" name="Google Shape;777;p74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pic>
        <p:nvPicPr>
          <p:cNvPr id="778" name="Google Shape;77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70150" y="435540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07263" y="315300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57225" y="1843525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584450" y="3639175"/>
            <a:ext cx="398700" cy="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74"/>
          <p:cNvSpPr txBox="1"/>
          <p:nvPr/>
        </p:nvSpPr>
        <p:spPr>
          <a:xfrm>
            <a:off x="4468500" y="12468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0</a:t>
            </a:r>
            <a:endParaRPr sz="1800"/>
          </a:p>
        </p:txBody>
      </p:sp>
      <p:sp>
        <p:nvSpPr>
          <p:cNvPr id="783" name="Google Shape;783;p74"/>
          <p:cNvSpPr txBox="1"/>
          <p:nvPr/>
        </p:nvSpPr>
        <p:spPr>
          <a:xfrm>
            <a:off x="2206150" y="266582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84" name="Google Shape;784;p74"/>
          <p:cNvSpPr txBox="1"/>
          <p:nvPr/>
        </p:nvSpPr>
        <p:spPr>
          <a:xfrm>
            <a:off x="5441325" y="2011638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85" name="Google Shape;785;p74"/>
          <p:cNvSpPr txBox="1"/>
          <p:nvPr/>
        </p:nvSpPr>
        <p:spPr>
          <a:xfrm>
            <a:off x="6545200" y="26191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9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86" name="Google Shape;786;p74"/>
          <p:cNvSpPr txBox="1"/>
          <p:nvPr/>
        </p:nvSpPr>
        <p:spPr>
          <a:xfrm>
            <a:off x="657450" y="2630600"/>
            <a:ext cx="1168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r>
              <a:rPr b="1" lang="en-US"/>
              <a:t>  &gt; 1 + 0</a:t>
            </a:r>
            <a:endParaRPr b="1"/>
          </a:p>
        </p:txBody>
      </p:sp>
      <p:pic>
        <p:nvPicPr>
          <p:cNvPr id="787" name="Google Shape;78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9238" y="2638225"/>
            <a:ext cx="398700" cy="39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74"/>
          <p:cNvCxnSpPr>
            <a:stCxn id="789" idx="1"/>
          </p:cNvCxnSpPr>
          <p:nvPr/>
        </p:nvCxnSpPr>
        <p:spPr>
          <a:xfrm flipH="1" rot="10800000">
            <a:off x="1538247" y="2870550"/>
            <a:ext cx="817200" cy="2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74"/>
          <p:cNvCxnSpPr/>
          <p:nvPr/>
        </p:nvCxnSpPr>
        <p:spPr>
          <a:xfrm flipH="1">
            <a:off x="1737450" y="1394025"/>
            <a:ext cx="2870400" cy="13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74"/>
          <p:cNvCxnSpPr/>
          <p:nvPr/>
        </p:nvCxnSpPr>
        <p:spPr>
          <a:xfrm flipH="1">
            <a:off x="1387150" y="1943400"/>
            <a:ext cx="1819800" cy="7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789" name="Google Shape;789;p74"/>
          <p:cNvSpPr/>
          <p:nvPr/>
        </p:nvSpPr>
        <p:spPr>
          <a:xfrm rot="-5400000">
            <a:off x="1443900" y="2798250"/>
            <a:ext cx="132000" cy="414000"/>
          </a:xfrm>
          <a:prstGeom prst="leftBrace">
            <a:avLst>
              <a:gd fmla="val 8333" name="adj1"/>
              <a:gd fmla="val 5684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5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797" name="Google Shape;797;p75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98" name="Google Shape;798;p75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799" name="Google Shape;799;p75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800" name="Google Shape;800;p75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801" name="Google Shape;801;p75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02" name="Google Shape;802;p75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803" name="Google Shape;803;p75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804" name="Google Shape;804;p75"/>
          <p:cNvCxnSpPr>
            <a:stCxn id="796" idx="5"/>
            <a:endCxn id="797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5" name="Google Shape;805;p75"/>
          <p:cNvCxnSpPr>
            <a:stCxn id="797" idx="5"/>
            <a:endCxn id="799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6" name="Google Shape;806;p75"/>
          <p:cNvCxnSpPr>
            <a:stCxn id="796" idx="6"/>
            <a:endCxn id="799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7" name="Google Shape;807;p75"/>
          <p:cNvCxnSpPr>
            <a:stCxn id="796" idx="2"/>
            <a:endCxn id="800" idx="0"/>
          </p:cNvCxnSpPr>
          <p:nvPr/>
        </p:nvCxnSpPr>
        <p:spPr>
          <a:xfrm flipH="1">
            <a:off x="26757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8" name="Google Shape;808;p75"/>
          <p:cNvCxnSpPr>
            <a:stCxn id="798" idx="2"/>
            <a:endCxn id="800" idx="7"/>
          </p:cNvCxnSpPr>
          <p:nvPr/>
        </p:nvCxnSpPr>
        <p:spPr>
          <a:xfrm flipH="1">
            <a:off x="2833463" y="2400125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9" name="Google Shape;809;p75"/>
          <p:cNvCxnSpPr>
            <a:stCxn id="798" idx="5"/>
            <a:endCxn id="802" idx="1"/>
          </p:cNvCxnSpPr>
          <p:nvPr/>
        </p:nvCxnSpPr>
        <p:spPr>
          <a:xfrm>
            <a:off x="3914389" y="2557951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0" name="Google Shape;810;p75"/>
          <p:cNvCxnSpPr>
            <a:stCxn id="798" idx="6"/>
            <a:endCxn id="797" idx="2"/>
          </p:cNvCxnSpPr>
          <p:nvPr/>
        </p:nvCxnSpPr>
        <p:spPr>
          <a:xfrm>
            <a:off x="3979763" y="24001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1" name="Google Shape;811;p75"/>
          <p:cNvCxnSpPr>
            <a:stCxn id="797" idx="4"/>
            <a:endCxn id="802" idx="0"/>
          </p:cNvCxnSpPr>
          <p:nvPr/>
        </p:nvCxnSpPr>
        <p:spPr>
          <a:xfrm>
            <a:off x="5426663" y="26233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2" name="Google Shape;812;p75"/>
          <p:cNvCxnSpPr>
            <a:stCxn id="799" idx="3"/>
            <a:endCxn id="802" idx="6"/>
          </p:cNvCxnSpPr>
          <p:nvPr/>
        </p:nvCxnSpPr>
        <p:spPr>
          <a:xfrm flipH="1">
            <a:off x="5649961" y="31818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3" name="Google Shape;813;p75"/>
          <p:cNvCxnSpPr>
            <a:stCxn id="802" idx="2"/>
            <a:endCxn id="803" idx="6"/>
          </p:cNvCxnSpPr>
          <p:nvPr/>
        </p:nvCxnSpPr>
        <p:spPr>
          <a:xfrm rot="10800000"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14" name="Google Shape;814;p75"/>
          <p:cNvCxnSpPr>
            <a:stCxn id="801" idx="1"/>
            <a:endCxn id="803" idx="5"/>
          </p:cNvCxnSpPr>
          <p:nvPr/>
        </p:nvCxnSpPr>
        <p:spPr>
          <a:xfrm rot="10800000">
            <a:off x="3914511" y="3768274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5" name="Google Shape;815;p75"/>
          <p:cNvCxnSpPr>
            <a:stCxn id="801" idx="7"/>
            <a:endCxn id="802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6" name="Google Shape;816;p75"/>
          <p:cNvSpPr txBox="1"/>
          <p:nvPr/>
        </p:nvSpPr>
        <p:spPr>
          <a:xfrm>
            <a:off x="3056700" y="1714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17" name="Google Shape;817;p75"/>
          <p:cNvSpPr txBox="1"/>
          <p:nvPr/>
        </p:nvSpPr>
        <p:spPr>
          <a:xfrm>
            <a:off x="50230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818" name="Google Shape;818;p75"/>
          <p:cNvSpPr txBox="1"/>
          <p:nvPr/>
        </p:nvSpPr>
        <p:spPr>
          <a:xfrm>
            <a:off x="4540938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19" name="Google Shape;819;p75"/>
          <p:cNvSpPr txBox="1"/>
          <p:nvPr/>
        </p:nvSpPr>
        <p:spPr>
          <a:xfrm>
            <a:off x="4290313" y="206163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20" name="Google Shape;820;p75"/>
          <p:cNvSpPr txBox="1"/>
          <p:nvPr/>
        </p:nvSpPr>
        <p:spPr>
          <a:xfrm>
            <a:off x="5774738" y="24551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821" name="Google Shape;821;p75"/>
          <p:cNvSpPr txBox="1"/>
          <p:nvPr/>
        </p:nvSpPr>
        <p:spPr>
          <a:xfrm>
            <a:off x="5777825" y="17285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22" name="Google Shape;822;p75"/>
          <p:cNvSpPr txBox="1"/>
          <p:nvPr/>
        </p:nvSpPr>
        <p:spPr>
          <a:xfrm>
            <a:off x="4903925" y="18047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23" name="Google Shape;823;p75"/>
          <p:cNvSpPr txBox="1"/>
          <p:nvPr/>
        </p:nvSpPr>
        <p:spPr>
          <a:xfrm>
            <a:off x="2941763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824" name="Google Shape;824;p75"/>
          <p:cNvSpPr txBox="1"/>
          <p:nvPr/>
        </p:nvSpPr>
        <p:spPr>
          <a:xfrm>
            <a:off x="6039350" y="31966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825" name="Google Shape;825;p75"/>
          <p:cNvSpPr txBox="1"/>
          <p:nvPr/>
        </p:nvSpPr>
        <p:spPr>
          <a:xfrm>
            <a:off x="5584250" y="31818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26" name="Google Shape;826;p75"/>
          <p:cNvSpPr txBox="1"/>
          <p:nvPr/>
        </p:nvSpPr>
        <p:spPr>
          <a:xfrm>
            <a:off x="5354113" y="2724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27" name="Google Shape;827;p75"/>
          <p:cNvSpPr txBox="1"/>
          <p:nvPr/>
        </p:nvSpPr>
        <p:spPr>
          <a:xfrm>
            <a:off x="5117175" y="28820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828" name="Google Shape;828;p75"/>
          <p:cNvSpPr txBox="1"/>
          <p:nvPr/>
        </p:nvSpPr>
        <p:spPr>
          <a:xfrm>
            <a:off x="4497450" y="2703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29" name="Google Shape;829;p75"/>
          <p:cNvSpPr txBox="1"/>
          <p:nvPr/>
        </p:nvSpPr>
        <p:spPr>
          <a:xfrm>
            <a:off x="38391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30" name="Google Shape;830;p75"/>
          <p:cNvSpPr txBox="1"/>
          <p:nvPr/>
        </p:nvSpPr>
        <p:spPr>
          <a:xfrm>
            <a:off x="4682200" y="3562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831" name="Google Shape;831;p75"/>
          <p:cNvSpPr txBox="1"/>
          <p:nvPr/>
        </p:nvSpPr>
        <p:spPr>
          <a:xfrm>
            <a:off x="4083700" y="3322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32" name="Google Shape;832;p75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pic>
        <p:nvPicPr>
          <p:cNvPr id="833" name="Google Shape;83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70150" y="4355400"/>
            <a:ext cx="398700" cy="3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07263" y="3153000"/>
            <a:ext cx="398700" cy="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5"/>
          <p:cNvSpPr txBox="1"/>
          <p:nvPr/>
        </p:nvSpPr>
        <p:spPr>
          <a:xfrm>
            <a:off x="4468500" y="12468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0</a:t>
            </a:r>
            <a:endParaRPr sz="1800"/>
          </a:p>
        </p:txBody>
      </p:sp>
      <p:sp>
        <p:nvSpPr>
          <p:cNvPr id="836" name="Google Shape;836;p75"/>
          <p:cNvSpPr txBox="1"/>
          <p:nvPr/>
        </p:nvSpPr>
        <p:spPr>
          <a:xfrm>
            <a:off x="2206150" y="266582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5441325" y="2011638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3457175" y="1898650"/>
            <a:ext cx="52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5584450" y="361530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7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6811650" y="26191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4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41" name="Google Shape;841;p75"/>
          <p:cNvSpPr txBox="1"/>
          <p:nvPr/>
        </p:nvSpPr>
        <p:spPr>
          <a:xfrm>
            <a:off x="6578450" y="26191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9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842" name="Google Shape;842;p75"/>
          <p:cNvCxnSpPr/>
          <p:nvPr/>
        </p:nvCxnSpPr>
        <p:spPr>
          <a:xfrm>
            <a:off x="6599325" y="2630125"/>
            <a:ext cx="350100" cy="30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6"/>
          <p:cNvSpPr/>
          <p:nvPr/>
        </p:nvSpPr>
        <p:spPr>
          <a:xfrm>
            <a:off x="4346400" y="15176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848" name="Google Shape;848;p76"/>
          <p:cNvSpPr/>
          <p:nvPr/>
        </p:nvSpPr>
        <p:spPr>
          <a:xfrm>
            <a:off x="52034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849" name="Google Shape;849;p76"/>
          <p:cNvSpPr/>
          <p:nvPr/>
        </p:nvSpPr>
        <p:spPr>
          <a:xfrm>
            <a:off x="3533363" y="21769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50" name="Google Shape;850;p76"/>
          <p:cNvSpPr/>
          <p:nvPr/>
        </p:nvSpPr>
        <p:spPr>
          <a:xfrm>
            <a:off x="6240388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851" name="Google Shape;851;p76"/>
          <p:cNvSpPr/>
          <p:nvPr/>
        </p:nvSpPr>
        <p:spPr>
          <a:xfrm>
            <a:off x="2452413" y="28008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852" name="Google Shape;852;p76"/>
          <p:cNvSpPr/>
          <p:nvPr/>
        </p:nvSpPr>
        <p:spPr>
          <a:xfrm>
            <a:off x="4359138" y="42429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53" name="Google Shape;853;p76"/>
          <p:cNvSpPr/>
          <p:nvPr/>
        </p:nvSpPr>
        <p:spPr>
          <a:xfrm>
            <a:off x="52034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854" name="Google Shape;854;p76"/>
          <p:cNvSpPr/>
          <p:nvPr/>
        </p:nvSpPr>
        <p:spPr>
          <a:xfrm>
            <a:off x="3533363" y="33871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855" name="Google Shape;855;p76"/>
          <p:cNvCxnSpPr>
            <a:stCxn id="847" idx="5"/>
            <a:endCxn id="848" idx="1"/>
          </p:cNvCxnSpPr>
          <p:nvPr/>
        </p:nvCxnSpPr>
        <p:spPr>
          <a:xfrm>
            <a:off x="4727426" y="1898651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6" name="Google Shape;856;p76"/>
          <p:cNvCxnSpPr>
            <a:stCxn id="848" idx="5"/>
            <a:endCxn id="850" idx="2"/>
          </p:cNvCxnSpPr>
          <p:nvPr/>
        </p:nvCxnSpPr>
        <p:spPr>
          <a:xfrm>
            <a:off x="5584489" y="2557951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7" name="Google Shape;857;p76"/>
          <p:cNvCxnSpPr>
            <a:stCxn id="847" idx="6"/>
            <a:endCxn id="850" idx="0"/>
          </p:cNvCxnSpPr>
          <p:nvPr/>
        </p:nvCxnSpPr>
        <p:spPr>
          <a:xfrm>
            <a:off x="47928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8" name="Google Shape;858;p76"/>
          <p:cNvCxnSpPr>
            <a:stCxn id="847" idx="2"/>
            <a:endCxn id="851" idx="0"/>
          </p:cNvCxnSpPr>
          <p:nvPr/>
        </p:nvCxnSpPr>
        <p:spPr>
          <a:xfrm flipH="1">
            <a:off x="2675700" y="1740825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9" name="Google Shape;859;p76"/>
          <p:cNvCxnSpPr>
            <a:stCxn id="849" idx="2"/>
            <a:endCxn id="851" idx="7"/>
          </p:cNvCxnSpPr>
          <p:nvPr/>
        </p:nvCxnSpPr>
        <p:spPr>
          <a:xfrm flipH="1">
            <a:off x="2833463" y="2400125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0" name="Google Shape;860;p76"/>
          <p:cNvCxnSpPr>
            <a:stCxn id="849" idx="5"/>
            <a:endCxn id="853" idx="1"/>
          </p:cNvCxnSpPr>
          <p:nvPr/>
        </p:nvCxnSpPr>
        <p:spPr>
          <a:xfrm>
            <a:off x="3914389" y="2557951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1" name="Google Shape;861;p76"/>
          <p:cNvCxnSpPr>
            <a:stCxn id="849" idx="6"/>
            <a:endCxn id="848" idx="2"/>
          </p:cNvCxnSpPr>
          <p:nvPr/>
        </p:nvCxnSpPr>
        <p:spPr>
          <a:xfrm>
            <a:off x="3979763" y="24001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62" name="Google Shape;862;p76"/>
          <p:cNvCxnSpPr>
            <a:stCxn id="848" idx="4"/>
            <a:endCxn id="853" idx="0"/>
          </p:cNvCxnSpPr>
          <p:nvPr/>
        </p:nvCxnSpPr>
        <p:spPr>
          <a:xfrm>
            <a:off x="5426663" y="26233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63" name="Google Shape;863;p76"/>
          <p:cNvCxnSpPr>
            <a:stCxn id="850" idx="3"/>
            <a:endCxn id="853" idx="6"/>
          </p:cNvCxnSpPr>
          <p:nvPr/>
        </p:nvCxnSpPr>
        <p:spPr>
          <a:xfrm flipH="1">
            <a:off x="5649961" y="31818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64" name="Google Shape;864;p76"/>
          <p:cNvCxnSpPr>
            <a:stCxn id="853" idx="2"/>
            <a:endCxn id="854" idx="6"/>
          </p:cNvCxnSpPr>
          <p:nvPr/>
        </p:nvCxnSpPr>
        <p:spPr>
          <a:xfrm rot="10800000">
            <a:off x="3979763" y="361035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865" name="Google Shape;865;p76"/>
          <p:cNvCxnSpPr>
            <a:stCxn id="852" idx="1"/>
            <a:endCxn id="854" idx="5"/>
          </p:cNvCxnSpPr>
          <p:nvPr/>
        </p:nvCxnSpPr>
        <p:spPr>
          <a:xfrm rot="10800000">
            <a:off x="3914511" y="3768274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6" name="Google Shape;866;p76"/>
          <p:cNvCxnSpPr>
            <a:stCxn id="852" idx="7"/>
            <a:endCxn id="853" idx="3"/>
          </p:cNvCxnSpPr>
          <p:nvPr/>
        </p:nvCxnSpPr>
        <p:spPr>
          <a:xfrm flipH="1" rot="10800000">
            <a:off x="4740164" y="3768274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7" name="Google Shape;867;p76"/>
          <p:cNvSpPr txBox="1"/>
          <p:nvPr/>
        </p:nvSpPr>
        <p:spPr>
          <a:xfrm>
            <a:off x="3056700" y="1714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68" name="Google Shape;868;p76"/>
          <p:cNvSpPr txBox="1"/>
          <p:nvPr/>
        </p:nvSpPr>
        <p:spPr>
          <a:xfrm>
            <a:off x="50230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869" name="Google Shape;869;p76"/>
          <p:cNvSpPr txBox="1"/>
          <p:nvPr/>
        </p:nvSpPr>
        <p:spPr>
          <a:xfrm>
            <a:off x="4540938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70" name="Google Shape;870;p76"/>
          <p:cNvSpPr txBox="1"/>
          <p:nvPr/>
        </p:nvSpPr>
        <p:spPr>
          <a:xfrm>
            <a:off x="4290313" y="206163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71" name="Google Shape;871;p76"/>
          <p:cNvSpPr txBox="1"/>
          <p:nvPr/>
        </p:nvSpPr>
        <p:spPr>
          <a:xfrm>
            <a:off x="5774738" y="24551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872" name="Google Shape;872;p76"/>
          <p:cNvSpPr txBox="1"/>
          <p:nvPr/>
        </p:nvSpPr>
        <p:spPr>
          <a:xfrm>
            <a:off x="5777825" y="17285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873" name="Google Shape;873;p76"/>
          <p:cNvSpPr txBox="1"/>
          <p:nvPr/>
        </p:nvSpPr>
        <p:spPr>
          <a:xfrm>
            <a:off x="4903925" y="18047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74" name="Google Shape;874;p76"/>
          <p:cNvSpPr txBox="1"/>
          <p:nvPr/>
        </p:nvSpPr>
        <p:spPr>
          <a:xfrm>
            <a:off x="2941763" y="22967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875" name="Google Shape;875;p76"/>
          <p:cNvSpPr txBox="1"/>
          <p:nvPr/>
        </p:nvSpPr>
        <p:spPr>
          <a:xfrm>
            <a:off x="6039350" y="31966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876" name="Google Shape;876;p76"/>
          <p:cNvSpPr txBox="1"/>
          <p:nvPr/>
        </p:nvSpPr>
        <p:spPr>
          <a:xfrm>
            <a:off x="5584250" y="31818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77" name="Google Shape;877;p76"/>
          <p:cNvSpPr txBox="1"/>
          <p:nvPr/>
        </p:nvSpPr>
        <p:spPr>
          <a:xfrm>
            <a:off x="5354113" y="2724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78" name="Google Shape;878;p76"/>
          <p:cNvSpPr txBox="1"/>
          <p:nvPr/>
        </p:nvSpPr>
        <p:spPr>
          <a:xfrm>
            <a:off x="5117175" y="2882088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879" name="Google Shape;879;p76"/>
          <p:cNvSpPr txBox="1"/>
          <p:nvPr/>
        </p:nvSpPr>
        <p:spPr>
          <a:xfrm>
            <a:off x="4497450" y="2703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880" name="Google Shape;880;p76"/>
          <p:cNvSpPr txBox="1"/>
          <p:nvPr/>
        </p:nvSpPr>
        <p:spPr>
          <a:xfrm>
            <a:off x="3839100" y="39399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81" name="Google Shape;881;p76"/>
          <p:cNvSpPr txBox="1"/>
          <p:nvPr/>
        </p:nvSpPr>
        <p:spPr>
          <a:xfrm>
            <a:off x="4682200" y="3562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882" name="Google Shape;882;p76"/>
          <p:cNvSpPr txBox="1"/>
          <p:nvPr/>
        </p:nvSpPr>
        <p:spPr>
          <a:xfrm>
            <a:off x="4083700" y="3322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83" name="Google Shape;883;p76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pic>
        <p:nvPicPr>
          <p:cNvPr id="884" name="Google Shape;88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70150" y="4355400"/>
            <a:ext cx="398700" cy="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6"/>
          <p:cNvSpPr txBox="1"/>
          <p:nvPr/>
        </p:nvSpPr>
        <p:spPr>
          <a:xfrm>
            <a:off x="4468500" y="12468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0</a:t>
            </a:r>
            <a:endParaRPr sz="1800"/>
          </a:p>
        </p:txBody>
      </p:sp>
      <p:sp>
        <p:nvSpPr>
          <p:cNvPr id="886" name="Google Shape;886;p76"/>
          <p:cNvSpPr txBox="1"/>
          <p:nvPr/>
        </p:nvSpPr>
        <p:spPr>
          <a:xfrm>
            <a:off x="2206150" y="266582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87" name="Google Shape;887;p76"/>
          <p:cNvSpPr txBox="1"/>
          <p:nvPr/>
        </p:nvSpPr>
        <p:spPr>
          <a:xfrm>
            <a:off x="5441325" y="2011638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88" name="Google Shape;888;p76"/>
          <p:cNvSpPr txBox="1"/>
          <p:nvPr/>
        </p:nvSpPr>
        <p:spPr>
          <a:xfrm>
            <a:off x="6545200" y="26191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4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89" name="Google Shape;889;p76"/>
          <p:cNvSpPr txBox="1"/>
          <p:nvPr/>
        </p:nvSpPr>
        <p:spPr>
          <a:xfrm>
            <a:off x="3457175" y="1898650"/>
            <a:ext cx="52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90" name="Google Shape;890;p76"/>
          <p:cNvSpPr txBox="1"/>
          <p:nvPr/>
        </p:nvSpPr>
        <p:spPr>
          <a:xfrm>
            <a:off x="5584450" y="361530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91" name="Google Shape;891;p76"/>
          <p:cNvSpPr txBox="1"/>
          <p:nvPr/>
        </p:nvSpPr>
        <p:spPr>
          <a:xfrm>
            <a:off x="3291913" y="32242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6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7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Итоги:</a:t>
            </a:r>
            <a:endParaRPr/>
          </a:p>
        </p:txBody>
      </p:sp>
      <p:sp>
        <p:nvSpPr>
          <p:cNvPr id="897" name="Google Shape;897;p77"/>
          <p:cNvSpPr/>
          <p:nvPr/>
        </p:nvSpPr>
        <p:spPr>
          <a:xfrm>
            <a:off x="1144800" y="1339100"/>
            <a:ext cx="68544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45720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2D30"/>
                </a:solidFill>
              </a:rPr>
              <a:t>Теория и Практика</a:t>
            </a:r>
            <a:endParaRPr b="1" sz="1800">
              <a:solidFill>
                <a:srgbClr val="2C2D3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Поиск кратчайшего пути по алгоритму Дейкстры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8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903" name="Google Shape;903;p78"/>
          <p:cNvSpPr/>
          <p:nvPr/>
        </p:nvSpPr>
        <p:spPr>
          <a:xfrm>
            <a:off x="1142375" y="1366575"/>
            <a:ext cx="6854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en-US" sz="1600"/>
              <a:t>На улице встретились N друзей. Каждый пожал руку всем остальным друзьям (по одному разу)</a:t>
            </a:r>
            <a:r>
              <a:rPr lang="en-US" sz="1600"/>
              <a:t>. </a:t>
            </a:r>
            <a:br>
              <a:rPr lang="en-US" sz="1600"/>
            </a:br>
            <a:r>
              <a:rPr lang="en-US" sz="1600"/>
              <a:t>Сколько рукопожатий было?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/>
              <a:t>Примечание: Решите задачу при помощи построения графа.</a:t>
            </a:r>
            <a:endParaRPr sz="1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9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909" name="Google Shape;909;p79"/>
          <p:cNvSpPr/>
          <p:nvPr/>
        </p:nvSpPr>
        <p:spPr>
          <a:xfrm>
            <a:off x="1142375" y="1366575"/>
            <a:ext cx="6854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 startAt="2"/>
            </a:pPr>
            <a:r>
              <a:rPr lang="en-US" sz="1600"/>
              <a:t>Доработать алгоритм Дейкстры, чтобы он дополнительно </a:t>
            </a:r>
            <a:r>
              <a:rPr lang="en-US" sz="1600"/>
              <a:t>возвращал</a:t>
            </a:r>
            <a:r>
              <a:rPr lang="en-US" sz="1600"/>
              <a:t> список вершин, которые необходимо обойти.</a:t>
            </a:r>
            <a:endParaRPr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0"/>
          <p:cNvSpPr/>
          <p:nvPr/>
        </p:nvSpPr>
        <p:spPr>
          <a:xfrm>
            <a:off x="3282650" y="15323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915" name="Google Shape;915;p80"/>
          <p:cNvSpPr/>
          <p:nvPr/>
        </p:nvSpPr>
        <p:spPr>
          <a:xfrm>
            <a:off x="4139713" y="2191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16" name="Google Shape;916;p80"/>
          <p:cNvSpPr/>
          <p:nvPr/>
        </p:nvSpPr>
        <p:spPr>
          <a:xfrm>
            <a:off x="2469613" y="21916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17" name="Google Shape;917;p80"/>
          <p:cNvSpPr/>
          <p:nvPr/>
        </p:nvSpPr>
        <p:spPr>
          <a:xfrm>
            <a:off x="5176638" y="28154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918" name="Google Shape;918;p80"/>
          <p:cNvSpPr/>
          <p:nvPr/>
        </p:nvSpPr>
        <p:spPr>
          <a:xfrm>
            <a:off x="1388663" y="28154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919" name="Google Shape;919;p80"/>
          <p:cNvSpPr/>
          <p:nvPr/>
        </p:nvSpPr>
        <p:spPr>
          <a:xfrm>
            <a:off x="3295388" y="425757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920" name="Google Shape;920;p80"/>
          <p:cNvSpPr/>
          <p:nvPr/>
        </p:nvSpPr>
        <p:spPr>
          <a:xfrm>
            <a:off x="4139713" y="34018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921" name="Google Shape;921;p80"/>
          <p:cNvSpPr/>
          <p:nvPr/>
        </p:nvSpPr>
        <p:spPr>
          <a:xfrm>
            <a:off x="2469613" y="34018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922" name="Google Shape;922;p80"/>
          <p:cNvCxnSpPr>
            <a:stCxn id="914" idx="5"/>
            <a:endCxn id="915" idx="1"/>
          </p:cNvCxnSpPr>
          <p:nvPr/>
        </p:nvCxnSpPr>
        <p:spPr>
          <a:xfrm>
            <a:off x="3663676" y="1913326"/>
            <a:ext cx="541500" cy="3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3" name="Google Shape;923;p80"/>
          <p:cNvCxnSpPr>
            <a:stCxn id="915" idx="5"/>
            <a:endCxn id="917" idx="2"/>
          </p:cNvCxnSpPr>
          <p:nvPr/>
        </p:nvCxnSpPr>
        <p:spPr>
          <a:xfrm>
            <a:off x="4520739" y="2572626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80"/>
          <p:cNvCxnSpPr>
            <a:stCxn id="914" idx="6"/>
            <a:endCxn id="917" idx="0"/>
          </p:cNvCxnSpPr>
          <p:nvPr/>
        </p:nvCxnSpPr>
        <p:spPr>
          <a:xfrm>
            <a:off x="3729050" y="1755500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80"/>
          <p:cNvCxnSpPr>
            <a:stCxn id="914" idx="2"/>
            <a:endCxn id="918" idx="0"/>
          </p:cNvCxnSpPr>
          <p:nvPr/>
        </p:nvCxnSpPr>
        <p:spPr>
          <a:xfrm flipH="1">
            <a:off x="1611950" y="1755500"/>
            <a:ext cx="1670700" cy="1059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80"/>
          <p:cNvCxnSpPr>
            <a:stCxn id="916" idx="2"/>
            <a:endCxn id="918" idx="7"/>
          </p:cNvCxnSpPr>
          <p:nvPr/>
        </p:nvCxnSpPr>
        <p:spPr>
          <a:xfrm flipH="1">
            <a:off x="1769713" y="2414800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7" name="Google Shape;927;p80"/>
          <p:cNvCxnSpPr>
            <a:stCxn id="916" idx="5"/>
            <a:endCxn id="920" idx="1"/>
          </p:cNvCxnSpPr>
          <p:nvPr/>
        </p:nvCxnSpPr>
        <p:spPr>
          <a:xfrm>
            <a:off x="2850639" y="2572626"/>
            <a:ext cx="1354500" cy="8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8" name="Google Shape;928;p80"/>
          <p:cNvCxnSpPr>
            <a:stCxn id="916" idx="6"/>
            <a:endCxn id="915" idx="2"/>
          </p:cNvCxnSpPr>
          <p:nvPr/>
        </p:nvCxnSpPr>
        <p:spPr>
          <a:xfrm>
            <a:off x="2916013" y="2414800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929" name="Google Shape;929;p80"/>
          <p:cNvCxnSpPr>
            <a:stCxn id="915" idx="4"/>
            <a:endCxn id="920" idx="0"/>
          </p:cNvCxnSpPr>
          <p:nvPr/>
        </p:nvCxnSpPr>
        <p:spPr>
          <a:xfrm>
            <a:off x="4362913" y="2638000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930" name="Google Shape;930;p80"/>
          <p:cNvCxnSpPr>
            <a:stCxn id="917" idx="3"/>
            <a:endCxn id="920" idx="6"/>
          </p:cNvCxnSpPr>
          <p:nvPr/>
        </p:nvCxnSpPr>
        <p:spPr>
          <a:xfrm flipH="1">
            <a:off x="4586211" y="3196501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931" name="Google Shape;931;p80"/>
          <p:cNvCxnSpPr>
            <a:stCxn id="920" idx="2"/>
            <a:endCxn id="921" idx="6"/>
          </p:cNvCxnSpPr>
          <p:nvPr/>
        </p:nvCxnSpPr>
        <p:spPr>
          <a:xfrm rot="10800000">
            <a:off x="2916013" y="3625025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932" name="Google Shape;932;p80"/>
          <p:cNvCxnSpPr>
            <a:stCxn id="919" idx="1"/>
            <a:endCxn id="921" idx="5"/>
          </p:cNvCxnSpPr>
          <p:nvPr/>
        </p:nvCxnSpPr>
        <p:spPr>
          <a:xfrm rot="10800000">
            <a:off x="2850761" y="3782949"/>
            <a:ext cx="5100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80"/>
          <p:cNvCxnSpPr>
            <a:stCxn id="919" idx="7"/>
            <a:endCxn id="920" idx="3"/>
          </p:cNvCxnSpPr>
          <p:nvPr/>
        </p:nvCxnSpPr>
        <p:spPr>
          <a:xfrm flipH="1" rot="10800000">
            <a:off x="3676414" y="3782949"/>
            <a:ext cx="528600" cy="5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4" name="Google Shape;934;p80"/>
          <p:cNvSpPr txBox="1"/>
          <p:nvPr/>
        </p:nvSpPr>
        <p:spPr>
          <a:xfrm>
            <a:off x="1992950" y="1729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35" name="Google Shape;935;p80"/>
          <p:cNvSpPr txBox="1"/>
          <p:nvPr/>
        </p:nvSpPr>
        <p:spPr>
          <a:xfrm>
            <a:off x="3959250" y="39545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36" name="Google Shape;936;p80"/>
          <p:cNvSpPr txBox="1"/>
          <p:nvPr/>
        </p:nvSpPr>
        <p:spPr>
          <a:xfrm>
            <a:off x="3477188" y="2311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937" name="Google Shape;937;p80"/>
          <p:cNvSpPr txBox="1"/>
          <p:nvPr/>
        </p:nvSpPr>
        <p:spPr>
          <a:xfrm>
            <a:off x="3226563" y="2076313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938" name="Google Shape;938;p80"/>
          <p:cNvSpPr txBox="1"/>
          <p:nvPr/>
        </p:nvSpPr>
        <p:spPr>
          <a:xfrm>
            <a:off x="4710988" y="2469863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939" name="Google Shape;939;p80"/>
          <p:cNvSpPr txBox="1"/>
          <p:nvPr/>
        </p:nvSpPr>
        <p:spPr>
          <a:xfrm>
            <a:off x="4714075" y="17432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940" name="Google Shape;940;p80"/>
          <p:cNvSpPr txBox="1"/>
          <p:nvPr/>
        </p:nvSpPr>
        <p:spPr>
          <a:xfrm>
            <a:off x="3840175" y="18194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41" name="Google Shape;941;p80"/>
          <p:cNvSpPr txBox="1"/>
          <p:nvPr/>
        </p:nvSpPr>
        <p:spPr>
          <a:xfrm>
            <a:off x="1878013" y="23114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942" name="Google Shape;942;p80"/>
          <p:cNvSpPr txBox="1"/>
          <p:nvPr/>
        </p:nvSpPr>
        <p:spPr>
          <a:xfrm>
            <a:off x="4975600" y="321135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943" name="Google Shape;943;p80"/>
          <p:cNvSpPr txBox="1"/>
          <p:nvPr/>
        </p:nvSpPr>
        <p:spPr>
          <a:xfrm>
            <a:off x="4520500" y="31965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44" name="Google Shape;944;p80"/>
          <p:cNvSpPr txBox="1"/>
          <p:nvPr/>
        </p:nvSpPr>
        <p:spPr>
          <a:xfrm>
            <a:off x="4290363" y="27392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945" name="Google Shape;945;p80"/>
          <p:cNvSpPr txBox="1"/>
          <p:nvPr/>
        </p:nvSpPr>
        <p:spPr>
          <a:xfrm>
            <a:off x="4053425" y="2896763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946" name="Google Shape;946;p80"/>
          <p:cNvSpPr txBox="1"/>
          <p:nvPr/>
        </p:nvSpPr>
        <p:spPr>
          <a:xfrm>
            <a:off x="3433700" y="2717800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947" name="Google Shape;947;p80"/>
          <p:cNvSpPr txBox="1"/>
          <p:nvPr/>
        </p:nvSpPr>
        <p:spPr>
          <a:xfrm>
            <a:off x="2775350" y="39545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48" name="Google Shape;948;p80"/>
          <p:cNvSpPr txBox="1"/>
          <p:nvPr/>
        </p:nvSpPr>
        <p:spPr>
          <a:xfrm>
            <a:off x="3618450" y="357747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949" name="Google Shape;949;p80"/>
          <p:cNvSpPr txBox="1"/>
          <p:nvPr/>
        </p:nvSpPr>
        <p:spPr>
          <a:xfrm>
            <a:off x="3019950" y="3337125"/>
            <a:ext cx="340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50" name="Google Shape;950;p80"/>
          <p:cNvSpPr/>
          <p:nvPr/>
        </p:nvSpPr>
        <p:spPr>
          <a:xfrm>
            <a:off x="1142400" y="571450"/>
            <a:ext cx="6854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Алгоритм Дейкстры</a:t>
            </a:r>
            <a:endParaRPr sz="3200">
              <a:solidFill>
                <a:srgbClr val="4C5D6E"/>
              </a:solidFill>
            </a:endParaRPr>
          </a:p>
        </p:txBody>
      </p:sp>
      <p:pic>
        <p:nvPicPr>
          <p:cNvPr id="951" name="Google Shape;95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906400" y="4370075"/>
            <a:ext cx="398700" cy="3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0"/>
          <p:cNvSpPr txBox="1"/>
          <p:nvPr/>
        </p:nvSpPr>
        <p:spPr>
          <a:xfrm>
            <a:off x="3404750" y="12615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0</a:t>
            </a:r>
            <a:endParaRPr sz="1800"/>
          </a:p>
        </p:txBody>
      </p:sp>
      <p:sp>
        <p:nvSpPr>
          <p:cNvPr id="953" name="Google Shape;953;p80"/>
          <p:cNvSpPr txBox="1"/>
          <p:nvPr/>
        </p:nvSpPr>
        <p:spPr>
          <a:xfrm>
            <a:off x="1142400" y="268050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4" name="Google Shape;954;p80"/>
          <p:cNvSpPr txBox="1"/>
          <p:nvPr/>
        </p:nvSpPr>
        <p:spPr>
          <a:xfrm>
            <a:off x="4377575" y="2026313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5" name="Google Shape;955;p80"/>
          <p:cNvSpPr txBox="1"/>
          <p:nvPr/>
        </p:nvSpPr>
        <p:spPr>
          <a:xfrm>
            <a:off x="5481450" y="263382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4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6" name="Google Shape;956;p80"/>
          <p:cNvSpPr txBox="1"/>
          <p:nvPr/>
        </p:nvSpPr>
        <p:spPr>
          <a:xfrm>
            <a:off x="2393425" y="1913325"/>
            <a:ext cx="5286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10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7" name="Google Shape;957;p80"/>
          <p:cNvSpPr txBox="1"/>
          <p:nvPr/>
        </p:nvSpPr>
        <p:spPr>
          <a:xfrm>
            <a:off x="4520700" y="3629975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58" name="Google Shape;958;p80"/>
          <p:cNvSpPr txBox="1"/>
          <p:nvPr/>
        </p:nvSpPr>
        <p:spPr>
          <a:xfrm>
            <a:off x="2228163" y="3238950"/>
            <a:ext cx="3987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6</a:t>
            </a:r>
            <a:endParaRPr sz="1800">
              <a:solidFill>
                <a:srgbClr val="FF0000"/>
              </a:solidFill>
            </a:endParaRPr>
          </a:p>
        </p:txBody>
      </p:sp>
      <p:graphicFrame>
        <p:nvGraphicFramePr>
          <p:cNvPr id="959" name="Google Shape;959;p80"/>
          <p:cNvGraphicFramePr/>
          <p:nvPr/>
        </p:nvGraphicFramePr>
        <p:xfrm>
          <a:off x="6039900" y="141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{CC0E3AD8-5069-4F8E-9D5E-1963045CC494}</a:tableStyleId>
              </a:tblPr>
              <a:tblGrid>
                <a:gridCol w="417350"/>
                <a:gridCol w="417350"/>
                <a:gridCol w="417350"/>
                <a:gridCol w="417350"/>
                <a:gridCol w="417350"/>
                <a:gridCol w="417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3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4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5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6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7</a:t>
                      </a:r>
                      <a:endParaRPr b="1"/>
                    </a:p>
                  </a:txBody>
                  <a:tcPr marT="91425" marB="91425" marR="91425" marL="91425" anchor="ctr"/>
                </a:tc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нет пути</a:t>
                      </a:r>
                      <a:endParaRPr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1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Домашнее задание</a:t>
            </a:r>
            <a:endParaRPr/>
          </a:p>
        </p:txBody>
      </p:sp>
      <p:sp>
        <p:nvSpPr>
          <p:cNvPr id="965" name="Google Shape;965;p81"/>
          <p:cNvSpPr/>
          <p:nvPr/>
        </p:nvSpPr>
        <p:spPr>
          <a:xfrm>
            <a:off x="1142375" y="1366575"/>
            <a:ext cx="6854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 startAt="3"/>
            </a:pPr>
            <a:r>
              <a:rPr lang="en-US" sz="1600"/>
              <a:t>Написать программу, которая обходит не взвешенный </a:t>
            </a:r>
            <a:r>
              <a:rPr lang="en-US" sz="1600"/>
              <a:t>ориентированный</a:t>
            </a:r>
            <a:r>
              <a:rPr lang="en-US" sz="1600"/>
              <a:t> граф без петель, в котором все вершины связаны, по алгоритму поиска в глубину (Depth-First Search).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Примечания: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граф должен храниться в виде списка смежности;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генерация графа выполняется в отдельной функции, которая принимает на вход число вершин.</a:t>
            </a:r>
            <a:endParaRPr sz="16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2"/>
          <p:cNvSpPr/>
          <p:nvPr/>
        </p:nvSpPr>
        <p:spPr>
          <a:xfrm>
            <a:off x="1142400" y="571450"/>
            <a:ext cx="6854400" cy="7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Поиск в глубину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971" name="Google Shape;971;p82"/>
          <p:cNvSpPr/>
          <p:nvPr/>
        </p:nvSpPr>
        <p:spPr>
          <a:xfrm>
            <a:off x="4346400" y="14414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</a:t>
            </a:r>
            <a:endParaRPr/>
          </a:p>
        </p:txBody>
      </p:sp>
      <p:sp>
        <p:nvSpPr>
          <p:cNvPr id="972" name="Google Shape;972;p82"/>
          <p:cNvSpPr/>
          <p:nvPr/>
        </p:nvSpPr>
        <p:spPr>
          <a:xfrm>
            <a:off x="5203463" y="23293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73" name="Google Shape;973;p82"/>
          <p:cNvSpPr/>
          <p:nvPr/>
        </p:nvSpPr>
        <p:spPr>
          <a:xfrm>
            <a:off x="3533363" y="2329325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974" name="Google Shape;974;p82"/>
          <p:cNvSpPr/>
          <p:nvPr/>
        </p:nvSpPr>
        <p:spPr>
          <a:xfrm>
            <a:off x="6240388" y="29532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975" name="Google Shape;975;p82"/>
          <p:cNvSpPr/>
          <p:nvPr/>
        </p:nvSpPr>
        <p:spPr>
          <a:xfrm>
            <a:off x="2452413" y="29532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976" name="Google Shape;976;p82"/>
          <p:cNvSpPr/>
          <p:nvPr/>
        </p:nvSpPr>
        <p:spPr>
          <a:xfrm>
            <a:off x="4359138" y="439530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977" name="Google Shape;977;p82"/>
          <p:cNvSpPr/>
          <p:nvPr/>
        </p:nvSpPr>
        <p:spPr>
          <a:xfrm>
            <a:off x="5203463" y="35395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978" name="Google Shape;978;p82"/>
          <p:cNvSpPr/>
          <p:nvPr/>
        </p:nvSpPr>
        <p:spPr>
          <a:xfrm>
            <a:off x="3533363" y="3539550"/>
            <a:ext cx="446400" cy="446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cxnSp>
        <p:nvCxnSpPr>
          <p:cNvPr id="979" name="Google Shape;979;p82"/>
          <p:cNvCxnSpPr>
            <a:stCxn id="971" idx="2"/>
            <a:endCxn id="975" idx="0"/>
          </p:cNvCxnSpPr>
          <p:nvPr/>
        </p:nvCxnSpPr>
        <p:spPr>
          <a:xfrm flipH="1">
            <a:off x="2675700" y="1664625"/>
            <a:ext cx="1670700" cy="1288500"/>
          </a:xfrm>
          <a:prstGeom prst="curvedConnector2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82"/>
          <p:cNvCxnSpPr>
            <a:stCxn id="971" idx="6"/>
            <a:endCxn id="974" idx="0"/>
          </p:cNvCxnSpPr>
          <p:nvPr/>
        </p:nvCxnSpPr>
        <p:spPr>
          <a:xfrm>
            <a:off x="4792800" y="1664625"/>
            <a:ext cx="1670700" cy="1288500"/>
          </a:xfrm>
          <a:prstGeom prst="curvedConnector2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1" name="Google Shape;981;p82"/>
          <p:cNvCxnSpPr>
            <a:stCxn id="975" idx="4"/>
            <a:endCxn id="976" idx="2"/>
          </p:cNvCxnSpPr>
          <p:nvPr/>
        </p:nvCxnSpPr>
        <p:spPr>
          <a:xfrm flipH="1" rot="-5400000">
            <a:off x="2907963" y="3167250"/>
            <a:ext cx="1218900" cy="1683600"/>
          </a:xfrm>
          <a:prstGeom prst="curvedConnector2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82"/>
          <p:cNvCxnSpPr>
            <a:stCxn id="975" idx="7"/>
            <a:endCxn id="973" idx="2"/>
          </p:cNvCxnSpPr>
          <p:nvPr/>
        </p:nvCxnSpPr>
        <p:spPr>
          <a:xfrm flipH="1" rot="10800000">
            <a:off x="2833439" y="2552674"/>
            <a:ext cx="6999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82"/>
          <p:cNvCxnSpPr>
            <a:stCxn id="975" idx="5"/>
            <a:endCxn id="978" idx="2"/>
          </p:cNvCxnSpPr>
          <p:nvPr/>
        </p:nvCxnSpPr>
        <p:spPr>
          <a:xfrm>
            <a:off x="2833439" y="3334226"/>
            <a:ext cx="6999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82"/>
          <p:cNvCxnSpPr>
            <a:stCxn id="973" idx="4"/>
            <a:endCxn id="978" idx="0"/>
          </p:cNvCxnSpPr>
          <p:nvPr/>
        </p:nvCxnSpPr>
        <p:spPr>
          <a:xfrm>
            <a:off x="3756563" y="27757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82"/>
          <p:cNvCxnSpPr>
            <a:stCxn id="973" idx="7"/>
            <a:endCxn id="972" idx="1"/>
          </p:cNvCxnSpPr>
          <p:nvPr/>
        </p:nvCxnSpPr>
        <p:spPr>
          <a:xfrm>
            <a:off x="3914389" y="2394699"/>
            <a:ext cx="1354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6" name="Google Shape;986;p82"/>
          <p:cNvCxnSpPr>
            <a:stCxn id="972" idx="3"/>
            <a:endCxn id="973" idx="5"/>
          </p:cNvCxnSpPr>
          <p:nvPr/>
        </p:nvCxnSpPr>
        <p:spPr>
          <a:xfrm rot="10800000">
            <a:off x="3914336" y="2710351"/>
            <a:ext cx="135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82"/>
          <p:cNvCxnSpPr>
            <a:stCxn id="978" idx="7"/>
            <a:endCxn id="977" idx="1"/>
          </p:cNvCxnSpPr>
          <p:nvPr/>
        </p:nvCxnSpPr>
        <p:spPr>
          <a:xfrm>
            <a:off x="3914389" y="3604924"/>
            <a:ext cx="1354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82"/>
          <p:cNvCxnSpPr>
            <a:stCxn id="977" idx="3"/>
            <a:endCxn id="978" idx="5"/>
          </p:cNvCxnSpPr>
          <p:nvPr/>
        </p:nvCxnSpPr>
        <p:spPr>
          <a:xfrm rot="10800000">
            <a:off x="3914336" y="3920576"/>
            <a:ext cx="1354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82"/>
          <p:cNvCxnSpPr>
            <a:stCxn id="972" idx="4"/>
            <a:endCxn id="977" idx="0"/>
          </p:cNvCxnSpPr>
          <p:nvPr/>
        </p:nvCxnSpPr>
        <p:spPr>
          <a:xfrm>
            <a:off x="5426663" y="2775725"/>
            <a:ext cx="0" cy="763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82"/>
          <p:cNvCxnSpPr>
            <a:stCxn id="974" idx="1"/>
            <a:endCxn id="972" idx="6"/>
          </p:cNvCxnSpPr>
          <p:nvPr/>
        </p:nvCxnSpPr>
        <p:spPr>
          <a:xfrm rot="10800000">
            <a:off x="5649961" y="2552674"/>
            <a:ext cx="655800" cy="4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1" name="Google Shape;991;p82"/>
          <p:cNvCxnSpPr>
            <a:stCxn id="974" idx="3"/>
            <a:endCxn id="977" idx="6"/>
          </p:cNvCxnSpPr>
          <p:nvPr/>
        </p:nvCxnSpPr>
        <p:spPr>
          <a:xfrm flipH="1">
            <a:off x="5649961" y="3334226"/>
            <a:ext cx="6558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82"/>
          <p:cNvCxnSpPr>
            <a:stCxn id="976" idx="7"/>
            <a:endCxn id="977" idx="4"/>
          </p:cNvCxnSpPr>
          <p:nvPr/>
        </p:nvCxnSpPr>
        <p:spPr>
          <a:xfrm flipH="1" rot="10800000">
            <a:off x="4740164" y="3986074"/>
            <a:ext cx="686400" cy="47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82"/>
          <p:cNvCxnSpPr>
            <a:stCxn id="971" idx="3"/>
            <a:endCxn id="973" idx="0"/>
          </p:cNvCxnSpPr>
          <p:nvPr/>
        </p:nvCxnSpPr>
        <p:spPr>
          <a:xfrm flipH="1">
            <a:off x="3756574" y="1822451"/>
            <a:ext cx="655200" cy="507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3"/>
          <p:cNvSpPr/>
          <p:nvPr/>
        </p:nvSpPr>
        <p:spPr>
          <a:xfrm>
            <a:off x="1142399" y="5714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5D6E"/>
              </a:buClr>
              <a:buFont typeface="Arial"/>
              <a:buNone/>
            </a:pPr>
            <a:r>
              <a:rPr lang="en-US" sz="3200">
                <a:solidFill>
                  <a:srgbClr val="4C5D6E"/>
                </a:solidFill>
              </a:rPr>
              <a:t>План</a:t>
            </a:r>
            <a:endParaRPr/>
          </a:p>
        </p:txBody>
      </p:sp>
      <p:sp>
        <p:nvSpPr>
          <p:cNvPr id="999" name="Google Shape;999;p83"/>
          <p:cNvSpPr/>
          <p:nvPr/>
        </p:nvSpPr>
        <p:spPr>
          <a:xfrm>
            <a:off x="1142375" y="1382050"/>
            <a:ext cx="68544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2C2D30"/>
              </a:buClr>
              <a:buSzPts val="1600"/>
              <a:buChar char="●"/>
            </a:pPr>
            <a:r>
              <a:rPr lang="en-US" sz="1600">
                <a:solidFill>
                  <a:srgbClr val="2C2D30"/>
                </a:solidFill>
              </a:rPr>
              <a:t>Разбор домашнего задания</a:t>
            </a:r>
            <a:endParaRPr sz="1600">
              <a:solidFill>
                <a:srgbClr val="2C2D3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w_Template7">
  <a:themeElements>
    <a:clrScheme name="New_Template7">
      <a:dk1>
        <a:srgbClr val="222222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