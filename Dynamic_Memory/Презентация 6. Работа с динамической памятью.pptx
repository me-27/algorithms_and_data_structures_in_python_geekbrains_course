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B25B86-DB7E-4D9B-929A-8C8F392D352D}">
  <a:tblStyle styleId="{63B25B86-DB7E-4D9B-929A-8C8F392D352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AFBD071-E5A2-4510-8A84-6C94ECB0026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9a881ec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9a881ec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8d0b8e6e_0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88d0b8e6e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b04fa922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8b04fa922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bf45db8e_0_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8bf45db8e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bf45db8e_0_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8bf45db8e_0_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3a401423_0_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83a401423_0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b04fa922_0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8b04fa922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b04fa922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8b04fa922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b4630702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8b463070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9a881ecd_0_1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9a881ecd_0_1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9a881ecd_0_1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9a881ecd_0_1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9a881ecd_0_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d9a881ecd_0_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9a881ecd_0_1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d9a881ecd_0_1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9a881ecd_0_1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9a881ecd_0_1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9a881ecd_0_2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9a881ecd_0_2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9a881ecd_0_2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d9a881ecd_0_2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9a881ecd_0_1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d9a881ecd_0_1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a08b195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da08b195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be58a5b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be58a5b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a08b195d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a08b195d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a08b195d_0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da08b195d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a08b195d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a08b195d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a08b195d_0_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a08b195d_0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a08b195d_0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a08b195d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a08b195d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da08b195d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a08b195d_0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da08b195d_0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a08b195d_0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a08b195d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a08b195d_0_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a08b195d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a08b195d_0_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a08b195d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a08b195d_0_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da08b195d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b04fa922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8b04fa922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a08b195d_0_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da08b195d_0_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46aa31cd_0_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846aa31cd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a547f139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da547f139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- вертикально" showMasterSp="0" type="tx">
  <p:cSld name="TITLE_AND_BODY">
    <p:bg>
      <p:bgPr>
        <a:solidFill>
          <a:srgbClr val="22222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>
            <p:ph idx="2" type="pic"/>
          </p:nvPr>
        </p:nvSpPr>
        <p:spPr>
          <a:xfrm>
            <a:off x="1143000" y="0"/>
            <a:ext cx="2893219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250531" y="3388816"/>
            <a:ext cx="3536157" cy="1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377405" y="1896846"/>
            <a:ext cx="3536157" cy="9510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7575660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 showMasterSp="0">
  <p:cSld name="Заголовок и пункты">
    <p:bg>
      <p:bgPr>
        <a:solidFill>
          <a:srgbClr val="2222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357312" y="810369"/>
            <a:ext cx="6429376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1357312" y="1446609"/>
            <a:ext cx="6429376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79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571172" y="4572010"/>
            <a:ext cx="571202" cy="571501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ading-logo.png"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9826" y="4636176"/>
            <a:ext cx="413781" cy="44314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571175" y="-1"/>
            <a:ext cx="571201" cy="190202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 showMasterSp="0" type="title">
  <p:cSld name="TITLE">
    <p:bg>
      <p:bgPr>
        <a:solidFill>
          <a:srgbClr val="22222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4"/>
          <p:cNvCxnSpPr/>
          <p:nvPr/>
        </p:nvCxnSpPr>
        <p:spPr>
          <a:xfrm flipH="1" rot="10800000">
            <a:off x="1357312" y="3238362"/>
            <a:ext cx="6429376" cy="139"/>
          </a:xfrm>
          <a:prstGeom prst="straightConnector1">
            <a:avLst/>
          </a:prstGeom>
          <a:noFill/>
          <a:ln cap="flat" cmpd="sng" w="12700">
            <a:solidFill>
              <a:srgbClr val="A6AAA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1357312" y="3388816"/>
            <a:ext cx="6429376" cy="1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357312" y="2250281"/>
            <a:ext cx="6429376" cy="9510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7575660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- горизонтально" showMasterSp="0">
  <p:cSld name="Фото - горизонтально">
    <p:bg>
      <p:bgPr>
        <a:solidFill>
          <a:srgbClr val="22222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cxnSp>
        <p:nvCxnSpPr>
          <p:cNvPr id="29" name="Google Shape;29;p5"/>
          <p:cNvCxnSpPr/>
          <p:nvPr>
            <p:ph idx="1" type="body"/>
          </p:nvPr>
        </p:nvCxnSpPr>
        <p:spPr>
          <a:xfrm flipH="1" rot="10800000">
            <a:off x="1357312" y="3238362"/>
            <a:ext cx="6429376" cy="139"/>
          </a:xfrm>
          <a:prstGeom prst="straightConnector1">
            <a:avLst/>
          </a:prstGeom>
          <a:noFill/>
          <a:ln cap="flat" cmpd="sng" w="12700">
            <a:solidFill>
              <a:srgbClr val="A6AA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5"/>
          <p:cNvSpPr txBox="1"/>
          <p:nvPr>
            <p:ph type="title"/>
          </p:nvPr>
        </p:nvSpPr>
        <p:spPr>
          <a:xfrm>
            <a:off x="1357312" y="3388816"/>
            <a:ext cx="6429376" cy="1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1357312" y="2250281"/>
            <a:ext cx="6429376" cy="9510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7575660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 showMasterSp="0">
  <p:cSld name="Заголовок и подзаголовок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6"/>
          <p:cNvCxnSpPr/>
          <p:nvPr/>
        </p:nvCxnSpPr>
        <p:spPr>
          <a:xfrm flipH="1" rot="10800000">
            <a:off x="1357312" y="3238362"/>
            <a:ext cx="6429376" cy="139"/>
          </a:xfrm>
          <a:prstGeom prst="straightConnector1">
            <a:avLst/>
          </a:prstGeom>
          <a:noFill/>
          <a:ln cap="flat" cmpd="sng" w="12700">
            <a:solidFill>
              <a:srgbClr val="A6AAA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" name="Google Shape;35;p6"/>
          <p:cNvSpPr txBox="1"/>
          <p:nvPr>
            <p:ph type="title"/>
          </p:nvPr>
        </p:nvSpPr>
        <p:spPr>
          <a:xfrm>
            <a:off x="1357312" y="3388816"/>
            <a:ext cx="6429376" cy="1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1357312" y="2250281"/>
            <a:ext cx="6429376" cy="9510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7558478" y="221009"/>
            <a:ext cx="212578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- по центру" showMasterSp="0">
  <p:cSld name="Заголовок - по центру">
    <p:bg>
      <p:bgPr>
        <a:solidFill>
          <a:srgbClr val="22222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1357312" y="2129730"/>
            <a:ext cx="6429376" cy="23842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7575660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- вверху">
  <p:cSld name="Заголовок - вверху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idx="1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1357312" y="810369"/>
            <a:ext cx="6429376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, дополн.">
  <p:cSld name="Заголовок и пункты, дополн.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idx="1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1357312" y="810369"/>
            <a:ext cx="6429376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1357312" y="1446609"/>
            <a:ext cx="6429376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79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bg>
      <p:bgPr>
        <a:solidFill>
          <a:srgbClr val="22222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2" name="Google Shape;52;p10"/>
          <p:cNvSpPr/>
          <p:nvPr>
            <p:ph idx="2" type="pic"/>
          </p:nvPr>
        </p:nvSpPr>
        <p:spPr>
          <a:xfrm>
            <a:off x="4893468" y="810369"/>
            <a:ext cx="2893220" cy="41121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1357312" y="810369"/>
            <a:ext cx="3321845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3" type="body"/>
          </p:nvPr>
        </p:nvSpPr>
        <p:spPr>
          <a:xfrm>
            <a:off x="1357312" y="1446609"/>
            <a:ext cx="3321845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1944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21944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21944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21944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bg>
      <p:bgPr>
        <a:solidFill>
          <a:srgbClr val="22222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2" type="body"/>
          </p:nvPr>
        </p:nvSpPr>
        <p:spPr>
          <a:xfrm>
            <a:off x="1357312" y="1446609"/>
            <a:ext cx="6429376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79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- 3 шт." showMasterSp="0">
  <p:cSld name="Фото - 3 шт.">
    <p:bg>
      <p:bgPr>
        <a:solidFill>
          <a:srgbClr val="22222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/>
          <p:nvPr>
            <p:ph idx="2" type="pic"/>
          </p:nvPr>
        </p:nvSpPr>
        <p:spPr>
          <a:xfrm>
            <a:off x="4572398" y="0"/>
            <a:ext cx="3429001" cy="25650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2" name="Google Shape;62;p12"/>
          <p:cNvSpPr/>
          <p:nvPr>
            <p:ph idx="3" type="pic"/>
          </p:nvPr>
        </p:nvSpPr>
        <p:spPr>
          <a:xfrm>
            <a:off x="4572000" y="2585144"/>
            <a:ext cx="3429001" cy="25650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3" name="Google Shape;63;p12"/>
          <p:cNvSpPr/>
          <p:nvPr>
            <p:ph idx="4" type="pic"/>
          </p:nvPr>
        </p:nvSpPr>
        <p:spPr>
          <a:xfrm>
            <a:off x="1143000" y="0"/>
            <a:ext cx="341114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">
  <p:cSld name="Цитата">
    <p:bg>
      <p:bgPr>
        <a:solidFill>
          <a:srgbClr val="22222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>
            <a:off x="1390798" y="1245691"/>
            <a:ext cx="6362304" cy="2757488"/>
          </a:xfrm>
          <a:custGeom>
            <a:rect b="b" l="l" r="r" t="t"/>
            <a:pathLst>
              <a:path extrusionOk="0" h="120000" w="120000">
                <a:moveTo>
                  <a:pt x="1244" y="0"/>
                </a:moveTo>
                <a:cubicBezTo>
                  <a:pt x="555" y="0"/>
                  <a:pt x="0" y="1283"/>
                  <a:pt x="0" y="2866"/>
                </a:cubicBezTo>
                <a:lnTo>
                  <a:pt x="0" y="104388"/>
                </a:lnTo>
                <a:cubicBezTo>
                  <a:pt x="0" y="105966"/>
                  <a:pt x="555" y="107255"/>
                  <a:pt x="1244" y="107255"/>
                </a:cubicBezTo>
                <a:lnTo>
                  <a:pt x="95716" y="107255"/>
                </a:lnTo>
                <a:lnTo>
                  <a:pt x="99166" y="120000"/>
                </a:lnTo>
                <a:lnTo>
                  <a:pt x="102616" y="107255"/>
                </a:lnTo>
                <a:lnTo>
                  <a:pt x="118755" y="107255"/>
                </a:lnTo>
                <a:cubicBezTo>
                  <a:pt x="119444" y="107255"/>
                  <a:pt x="120000" y="105966"/>
                  <a:pt x="120000" y="104388"/>
                </a:cubicBezTo>
                <a:lnTo>
                  <a:pt x="120000" y="2866"/>
                </a:lnTo>
                <a:cubicBezTo>
                  <a:pt x="120000" y="1283"/>
                  <a:pt x="119444" y="0"/>
                  <a:pt x="118755" y="0"/>
                </a:cubicBezTo>
                <a:lnTo>
                  <a:pt x="12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1611808" y="1533673"/>
            <a:ext cx="5920384" cy="13337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venir"/>
              <a:buNone/>
              <a:defRPr b="0" i="0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2" type="body"/>
          </p:nvPr>
        </p:nvSpPr>
        <p:spPr>
          <a:xfrm>
            <a:off x="1357312" y="4107656"/>
            <a:ext cx="6429376" cy="498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30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3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" showMasterSp="0">
  <p:cSld name="Цитата 2">
    <p:bg>
      <p:bgPr>
        <a:solidFill>
          <a:schemeClr val="accen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250531" y="1393031"/>
            <a:ext cx="3536157" cy="190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venir"/>
              <a:buNone/>
              <a:defRPr b="0" i="0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3" name="Google Shape;73;p14"/>
          <p:cNvSpPr/>
          <p:nvPr>
            <p:ph idx="2" type="pic"/>
          </p:nvPr>
        </p:nvSpPr>
        <p:spPr>
          <a:xfrm>
            <a:off x="1143000" y="0"/>
            <a:ext cx="2893219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3" type="body"/>
          </p:nvPr>
        </p:nvSpPr>
        <p:spPr>
          <a:xfrm>
            <a:off x="4250531" y="4086324"/>
            <a:ext cx="3536157" cy="498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80"/>
              <a:buFont typeface="Avenir"/>
              <a:buNone/>
              <a:defRPr b="0" i="0" sz="3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 showMasterSp="0">
  <p:cSld name="Фото">
    <p:bg>
      <p:bgPr>
        <a:solidFill>
          <a:srgbClr val="22222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5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5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5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5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5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5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5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5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showMasterSp="0">
  <p:cSld name="Пустой">
    <p:bg>
      <p:bgPr>
        <a:solidFill>
          <a:srgbClr val="22222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showMasterSp="0">
  <p:cSld name="Пустой 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"/>
          <p:cNvCxnSpPr/>
          <p:nvPr/>
        </p:nvCxnSpPr>
        <p:spPr>
          <a:xfrm flipH="1" rot="10800000">
            <a:off x="1357312" y="523737"/>
            <a:ext cx="6429376" cy="139"/>
          </a:xfrm>
          <a:prstGeom prst="straightConnector1">
            <a:avLst/>
          </a:prstGeom>
          <a:noFill/>
          <a:ln cap="flat" cmpd="sng" w="9525">
            <a:solidFill>
              <a:srgbClr val="A6AAA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" name="Google Shape;7;p1"/>
          <p:cNvSpPr txBox="1"/>
          <p:nvPr>
            <p:ph type="title"/>
          </p:nvPr>
        </p:nvSpPr>
        <p:spPr>
          <a:xfrm>
            <a:off x="1357312" y="810369"/>
            <a:ext cx="6429376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357312" y="1446609"/>
            <a:ext cx="6429376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79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79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EDF4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2917275" y="609150"/>
            <a:ext cx="59112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C2CA"/>
              </a:buClr>
              <a:buFont typeface="Arial"/>
              <a:buNone/>
            </a:pPr>
            <a:r>
              <a:rPr lang="en-US" sz="1600">
                <a:solidFill>
                  <a:srgbClr val="BDC2CA"/>
                </a:solidFill>
              </a:rPr>
              <a:t>Алгоритмы и структуры данных на Python. Интерактивный курс 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566259" y="921798"/>
            <a:ext cx="3266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venir"/>
              <a:buNone/>
            </a:pPr>
            <a:r>
              <a:rPr b="1" i="0" lang="en-US" sz="2000" u="none" cap="none" strike="noStrike">
                <a:solidFill>
                  <a:srgbClr val="4C5D6E"/>
                </a:solidFill>
                <a:latin typeface="Arial"/>
                <a:ea typeface="Arial"/>
                <a:cs typeface="Arial"/>
                <a:sym typeface="Arial"/>
              </a:rPr>
              <a:t>Урок </a:t>
            </a:r>
            <a:r>
              <a:rPr b="1" lang="en-US" sz="2000">
                <a:solidFill>
                  <a:srgbClr val="4C5D6E"/>
                </a:solidFill>
              </a:rPr>
              <a:t>6</a:t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3566250" y="1524175"/>
            <a:ext cx="47841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4000">
                <a:solidFill>
                  <a:srgbClr val="4C5D6E"/>
                </a:solidFill>
              </a:rPr>
              <a:t>Работа с динамической памятью</a:t>
            </a:r>
            <a:endParaRPr/>
          </a:p>
        </p:txBody>
      </p:sp>
      <p:pic>
        <p:nvPicPr>
          <p:cNvPr descr="Python copy.png" id="90" name="Google Shape;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850" y="1302988"/>
            <a:ext cx="2537526" cy="25375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/>
          <p:nvPr/>
        </p:nvSpPr>
        <p:spPr>
          <a:xfrm>
            <a:off x="3570400" y="3819900"/>
            <a:ext cx="4784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A8B7"/>
              </a:buClr>
              <a:buFont typeface="Arial"/>
              <a:buNone/>
            </a:pPr>
            <a:r>
              <a:rPr lang="en-US" sz="2400">
                <a:solidFill>
                  <a:srgbClr val="99A8B7"/>
                </a:solidFill>
              </a:rPr>
              <a:t>Представление в памяти коллекций. Управление памятью.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Память компьютера.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Проблемы управления памятью.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Способы выделения и фазы управления памятью.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Основные методы управления памятью.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1142400" y="1656575"/>
            <a:ext cx="2796900" cy="448800"/>
          </a:xfrm>
          <a:prstGeom prst="roundRect">
            <a:avLst>
              <a:gd fmla="val 16667" name="adj"/>
            </a:avLst>
          </a:prstGeom>
          <a:solidFill>
            <a:srgbClr val="E9EDF4"/>
          </a:solidFill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E"/>
              </a:buClr>
              <a:buSzPts val="1400"/>
              <a:buFont typeface="Arial"/>
              <a:buNone/>
            </a:pPr>
            <a:r>
              <a:rPr i="0" lang="en-US" sz="1000" u="none" cap="none" strike="noStrike">
                <a:solidFill>
                  <a:srgbClr val="13131E"/>
                </a:solidFill>
              </a:rPr>
              <a:t>выделить память под переменную</a:t>
            </a:r>
            <a:endParaRPr i="0" sz="1000" u="none" cap="none" strike="noStrike">
              <a:solidFill>
                <a:srgbClr val="13131E"/>
              </a:solidFill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1142650" y="2385625"/>
            <a:ext cx="2796900" cy="448800"/>
          </a:xfrm>
          <a:prstGeom prst="roundRect">
            <a:avLst>
              <a:gd fmla="val 16667" name="adj"/>
            </a:avLst>
          </a:prstGeom>
          <a:solidFill>
            <a:srgbClr val="E9EDF4"/>
          </a:solidFill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E"/>
              </a:buClr>
              <a:buSzPts val="1400"/>
              <a:buFont typeface="Arial"/>
              <a:buNone/>
            </a:pPr>
            <a:r>
              <a:rPr i="0" lang="en-US" sz="1000" u="none" cap="none" strike="noStrike">
                <a:solidFill>
                  <a:srgbClr val="13131E"/>
                </a:solidFill>
              </a:rPr>
              <a:t>инициализировать выделенную память некоторым начальным значением</a:t>
            </a:r>
            <a:endParaRPr sz="1000"/>
          </a:p>
        </p:txBody>
      </p:sp>
      <p:sp>
        <p:nvSpPr>
          <p:cNvPr id="104" name="Google Shape;104;p20"/>
          <p:cNvSpPr/>
          <p:nvPr/>
        </p:nvSpPr>
        <p:spPr>
          <a:xfrm>
            <a:off x="1142651" y="3114672"/>
            <a:ext cx="2847900" cy="561000"/>
          </a:xfrm>
          <a:prstGeom prst="roundRect">
            <a:avLst>
              <a:gd fmla="val 16667" name="adj"/>
            </a:avLst>
          </a:prstGeom>
          <a:solidFill>
            <a:srgbClr val="E9EDF4"/>
          </a:solidFill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E"/>
              </a:buClr>
              <a:buSzPts val="1400"/>
              <a:buFont typeface="Arial"/>
              <a:buNone/>
            </a:pPr>
            <a:r>
              <a:rPr i="0" lang="en-US" sz="1000" u="none" cap="none" strike="noStrike">
                <a:solidFill>
                  <a:srgbClr val="13131E"/>
                </a:solidFill>
              </a:rPr>
              <a:t>предоставить программисту возможность использования этой памяти</a:t>
            </a:r>
            <a:endParaRPr sz="1000"/>
          </a:p>
        </p:txBody>
      </p:sp>
      <p:sp>
        <p:nvSpPr>
          <p:cNvPr id="105" name="Google Shape;105;p20"/>
          <p:cNvSpPr/>
          <p:nvPr/>
        </p:nvSpPr>
        <p:spPr>
          <a:xfrm>
            <a:off x="5229350" y="1656575"/>
            <a:ext cx="3332100" cy="561000"/>
          </a:xfrm>
          <a:prstGeom prst="roundRect">
            <a:avLst>
              <a:gd fmla="val 16667" name="adj"/>
            </a:avLst>
          </a:prstGeom>
          <a:solidFill>
            <a:srgbClr val="E9EDF4"/>
          </a:solidFill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E"/>
              </a:buClr>
              <a:buSzPts val="1400"/>
              <a:buFont typeface="Arial"/>
              <a:buNone/>
            </a:pPr>
            <a:r>
              <a:rPr i="0" lang="en-US" sz="1000" u="none" cap="none" strike="noStrike">
                <a:solidFill>
                  <a:srgbClr val="13131E"/>
                </a:solidFill>
              </a:rPr>
              <a:t>как только память перестает использоваться, необходимо ее освободить (возможно, предварительно очистив)</a:t>
            </a:r>
            <a:endParaRPr sz="1000"/>
          </a:p>
        </p:txBody>
      </p:sp>
      <p:sp>
        <p:nvSpPr>
          <p:cNvPr id="106" name="Google Shape;106;p20"/>
          <p:cNvSpPr/>
          <p:nvPr/>
        </p:nvSpPr>
        <p:spPr>
          <a:xfrm>
            <a:off x="5229345" y="2609956"/>
            <a:ext cx="3332100" cy="616500"/>
          </a:xfrm>
          <a:prstGeom prst="roundRect">
            <a:avLst>
              <a:gd fmla="val 16667" name="adj"/>
            </a:avLst>
          </a:prstGeom>
          <a:solidFill>
            <a:srgbClr val="E9EDF4"/>
          </a:solidFill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E"/>
              </a:buClr>
              <a:buSzPts val="1400"/>
              <a:buFont typeface="Arial"/>
              <a:buNone/>
            </a:pPr>
            <a:r>
              <a:rPr i="0" lang="en-US" sz="1000" u="none" cap="none" strike="noStrike">
                <a:solidFill>
                  <a:srgbClr val="13131E"/>
                </a:solidFill>
              </a:rPr>
              <a:t>наконец, необходимо обеспечить возможность последующего повторного использования освобожденной памяти.</a:t>
            </a:r>
            <a:endParaRPr sz="1000"/>
          </a:p>
        </p:txBody>
      </p:sp>
      <p:cxnSp>
        <p:nvCxnSpPr>
          <p:cNvPr id="107" name="Google Shape;107;p20"/>
          <p:cNvCxnSpPr>
            <a:stCxn id="102" idx="2"/>
            <a:endCxn id="103" idx="0"/>
          </p:cNvCxnSpPr>
          <p:nvPr/>
        </p:nvCxnSpPr>
        <p:spPr>
          <a:xfrm>
            <a:off x="2540850" y="2105375"/>
            <a:ext cx="300" cy="280200"/>
          </a:xfrm>
          <a:prstGeom prst="straightConnector1">
            <a:avLst/>
          </a:prstGeom>
          <a:noFill/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8" name="Google Shape;108;p20"/>
          <p:cNvCxnSpPr>
            <a:stCxn id="104" idx="2"/>
            <a:endCxn id="105" idx="0"/>
          </p:cNvCxnSpPr>
          <p:nvPr/>
        </p:nvCxnSpPr>
        <p:spPr>
          <a:xfrm rot="-5400000">
            <a:off x="3721451" y="501822"/>
            <a:ext cx="2019000" cy="4328700"/>
          </a:xfrm>
          <a:prstGeom prst="bentConnector5">
            <a:avLst>
              <a:gd fmla="val -11794" name="adj1"/>
              <a:gd fmla="val 47205" name="adj2"/>
              <a:gd fmla="val 111799" name="adj3"/>
            </a:avLst>
          </a:prstGeom>
          <a:noFill/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" name="Google Shape;109;p20"/>
          <p:cNvCxnSpPr>
            <a:stCxn id="105" idx="2"/>
            <a:endCxn id="106" idx="0"/>
          </p:cNvCxnSpPr>
          <p:nvPr/>
        </p:nvCxnSpPr>
        <p:spPr>
          <a:xfrm>
            <a:off x="6895400" y="2217575"/>
            <a:ext cx="0" cy="392400"/>
          </a:xfrm>
          <a:prstGeom prst="straightConnector1">
            <a:avLst/>
          </a:prstGeom>
          <a:noFill/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0" name="Google Shape;110;p20"/>
          <p:cNvSpPr/>
          <p:nvPr/>
        </p:nvSpPr>
        <p:spPr>
          <a:xfrm>
            <a:off x="1142400" y="312350"/>
            <a:ext cx="6854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Основные фазы работы с памятью</a:t>
            </a:r>
            <a:endParaRPr sz="3200">
              <a:solidFill>
                <a:srgbClr val="4C5D6E"/>
              </a:solidFill>
            </a:endParaRPr>
          </a:p>
        </p:txBody>
      </p:sp>
      <p:cxnSp>
        <p:nvCxnSpPr>
          <p:cNvPr id="111" name="Google Shape;111;p20"/>
          <p:cNvCxnSpPr/>
          <p:nvPr/>
        </p:nvCxnSpPr>
        <p:spPr>
          <a:xfrm>
            <a:off x="2540700" y="2834425"/>
            <a:ext cx="300" cy="280200"/>
          </a:xfrm>
          <a:prstGeom prst="straightConnector1">
            <a:avLst/>
          </a:prstGeom>
          <a:noFill/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Проблемы управления памятью</a:t>
            </a:r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1701450" y="1881300"/>
            <a:ext cx="2573100" cy="1071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9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2020"/>
              </a:buClr>
              <a:buSzPts val="2000"/>
              <a:buFont typeface="Arial"/>
              <a:buNone/>
            </a:pPr>
            <a:r>
              <a:rPr i="0" lang="en-US" sz="1600" u="none" cap="none" strike="noStrike">
                <a:solidFill>
                  <a:srgbClr val="2C2D30"/>
                </a:solidFill>
              </a:rPr>
              <a:t>Память не бесконечна</a:t>
            </a:r>
            <a:endParaRPr i="0" sz="1600" u="none" cap="none" strike="noStrike">
              <a:solidFill>
                <a:srgbClr val="2C2D30"/>
              </a:solidFill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4864650" y="1881300"/>
            <a:ext cx="2573100" cy="1071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9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2020"/>
              </a:buClr>
              <a:buSzPts val="2000"/>
              <a:buFont typeface="Arial"/>
              <a:buNone/>
            </a:pPr>
            <a:r>
              <a:rPr lang="en-US" sz="1600">
                <a:solidFill>
                  <a:srgbClr val="2C2D30"/>
                </a:solidFill>
              </a:rPr>
              <a:t>М</a:t>
            </a:r>
            <a:r>
              <a:rPr i="0" lang="en-US" sz="1600" u="none" cap="none" strike="noStrike">
                <a:solidFill>
                  <a:srgbClr val="2C2D30"/>
                </a:solidFill>
              </a:rPr>
              <a:t>еханизм управления памятью: </a:t>
            </a:r>
            <a:endParaRPr i="0" sz="1600" u="none" cap="none" strike="noStrike">
              <a:solidFill>
                <a:srgbClr val="2C2D30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2020"/>
              </a:buClr>
              <a:buSzPts val="2000"/>
              <a:buFont typeface="Arial"/>
              <a:buNone/>
            </a:pPr>
            <a:r>
              <a:rPr lang="en-US" sz="1600">
                <a:solidFill>
                  <a:srgbClr val="2C2D30"/>
                </a:solidFill>
              </a:rPr>
              <a:t>автоматический или ручной</a:t>
            </a:r>
            <a:endParaRPr sz="1600">
              <a:solidFill>
                <a:srgbClr val="2C2D30"/>
              </a:solidFill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3285450" y="3386525"/>
            <a:ext cx="2573100" cy="1071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94D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2020"/>
              </a:buClr>
              <a:buSzPts val="2000"/>
              <a:buFont typeface="Arial"/>
              <a:buNone/>
            </a:pPr>
            <a:r>
              <a:rPr lang="en-US" sz="1600">
                <a:solidFill>
                  <a:srgbClr val="2C2D30"/>
                </a:solidFill>
              </a:rPr>
              <a:t>Р</a:t>
            </a:r>
            <a:r>
              <a:rPr i="0" lang="en-US" sz="1600" u="none" cap="none" strike="noStrike">
                <a:solidFill>
                  <a:srgbClr val="2C2D30"/>
                </a:solidFill>
              </a:rPr>
              <a:t>абота с общей памятью</a:t>
            </a:r>
            <a:endParaRPr i="0" sz="1600" u="none" cap="none" strike="noStrike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Способы выделения памяти</a:t>
            </a:r>
            <a:endParaRPr/>
          </a:p>
        </p:txBody>
      </p:sp>
      <p:sp>
        <p:nvSpPr>
          <p:cNvPr id="125" name="Google Shape;125;p22"/>
          <p:cNvSpPr/>
          <p:nvPr/>
        </p:nvSpPr>
        <p:spPr>
          <a:xfrm>
            <a:off x="1178404" y="2283753"/>
            <a:ext cx="3096300" cy="576000"/>
          </a:xfrm>
          <a:prstGeom prst="roundRect">
            <a:avLst>
              <a:gd fmla="val 16667" name="adj"/>
            </a:avLst>
          </a:prstGeom>
          <a:solidFill>
            <a:srgbClr val="4C5D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СТАТИЧЕСКАЯ</a:t>
            </a:r>
            <a:endParaRPr b="1" i="0" sz="16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E"/>
              </a:buClr>
              <a:buSzPts val="1400"/>
              <a:buFont typeface="Arial"/>
              <a:buNone/>
            </a:pPr>
            <a:r>
              <a:rPr b="1" lang="en-US" sz="1600">
                <a:solidFill>
                  <a:srgbClr val="F3F3F3"/>
                </a:solidFill>
              </a:rPr>
              <a:t>ИНФОРМАЦИЯ</a:t>
            </a:r>
            <a:endParaRPr b="1" sz="1600">
              <a:solidFill>
                <a:srgbClr val="F3F3F3"/>
              </a:solidFill>
            </a:endParaRPr>
          </a:p>
        </p:txBody>
      </p:sp>
      <p:sp>
        <p:nvSpPr>
          <p:cNvPr id="126" name="Google Shape;126;p22"/>
          <p:cNvSpPr/>
          <p:nvPr/>
        </p:nvSpPr>
        <p:spPr>
          <a:xfrm>
            <a:off x="4864498" y="2283753"/>
            <a:ext cx="3096300" cy="576000"/>
          </a:xfrm>
          <a:prstGeom prst="roundRect">
            <a:avLst>
              <a:gd fmla="val 16667" name="adj"/>
            </a:avLst>
          </a:prstGeom>
          <a:solidFill>
            <a:srgbClr val="4C5D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ДИНАМИЧЕСКАЯ ИНФОРМАЦИЯ</a:t>
            </a:r>
            <a:endParaRPr b="1" i="0" sz="16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Фазы управления памятью</a:t>
            </a: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3023842" y="1830021"/>
            <a:ext cx="3096300" cy="576000"/>
          </a:xfrm>
          <a:prstGeom prst="roundRect">
            <a:avLst>
              <a:gd fmla="val 16667" name="adj"/>
            </a:avLst>
          </a:prstGeom>
          <a:solidFill>
            <a:srgbClr val="E9EDF4"/>
          </a:solidFill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E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13131E"/>
                </a:solidFill>
              </a:rPr>
              <a:t>Начальное выделение памяти</a:t>
            </a:r>
            <a:endParaRPr sz="1600"/>
          </a:p>
        </p:txBody>
      </p:sp>
      <p:sp>
        <p:nvSpPr>
          <p:cNvPr id="133" name="Google Shape;133;p23"/>
          <p:cNvSpPr/>
          <p:nvPr/>
        </p:nvSpPr>
        <p:spPr>
          <a:xfrm>
            <a:off x="3023842" y="2808617"/>
            <a:ext cx="3096300" cy="576000"/>
          </a:xfrm>
          <a:prstGeom prst="roundRect">
            <a:avLst>
              <a:gd fmla="val 16667" name="adj"/>
            </a:avLst>
          </a:prstGeom>
          <a:solidFill>
            <a:srgbClr val="E9EDF4"/>
          </a:solidFill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E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13131E"/>
                </a:solidFill>
              </a:rPr>
              <a:t>Утилизация памяти</a:t>
            </a:r>
            <a:endParaRPr sz="1600"/>
          </a:p>
        </p:txBody>
      </p:sp>
      <p:sp>
        <p:nvSpPr>
          <p:cNvPr id="134" name="Google Shape;134;p23"/>
          <p:cNvSpPr/>
          <p:nvPr/>
        </p:nvSpPr>
        <p:spPr>
          <a:xfrm>
            <a:off x="3023842" y="3787218"/>
            <a:ext cx="3096300" cy="576000"/>
          </a:xfrm>
          <a:prstGeom prst="roundRect">
            <a:avLst>
              <a:gd fmla="val 16667" name="adj"/>
            </a:avLst>
          </a:prstGeom>
          <a:solidFill>
            <a:srgbClr val="E9EDF4"/>
          </a:solidFill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131E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rgbClr val="13131E"/>
                </a:solidFill>
              </a:rPr>
              <a:t>Уплотнение и повторное использование</a:t>
            </a:r>
            <a:endParaRPr sz="1600"/>
          </a:p>
        </p:txBody>
      </p:sp>
      <p:cxnSp>
        <p:nvCxnSpPr>
          <p:cNvPr id="135" name="Google Shape;135;p23"/>
          <p:cNvCxnSpPr>
            <a:stCxn id="132" idx="2"/>
            <a:endCxn id="133" idx="0"/>
          </p:cNvCxnSpPr>
          <p:nvPr/>
        </p:nvCxnSpPr>
        <p:spPr>
          <a:xfrm>
            <a:off x="4571992" y="2406021"/>
            <a:ext cx="0" cy="402600"/>
          </a:xfrm>
          <a:prstGeom prst="straightConnector1">
            <a:avLst/>
          </a:prstGeom>
          <a:noFill/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6" name="Google Shape;136;p23"/>
          <p:cNvCxnSpPr>
            <a:stCxn id="133" idx="2"/>
            <a:endCxn id="134" idx="0"/>
          </p:cNvCxnSpPr>
          <p:nvPr/>
        </p:nvCxnSpPr>
        <p:spPr>
          <a:xfrm>
            <a:off x="4571992" y="3384617"/>
            <a:ext cx="0" cy="402600"/>
          </a:xfrm>
          <a:prstGeom prst="straightConnector1">
            <a:avLst/>
          </a:prstGeom>
          <a:noFill/>
          <a:ln cap="flat" cmpd="sng" w="9525">
            <a:solidFill>
              <a:srgbClr val="4C5D6E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Основные методы управления памятью</a:t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1144800" y="1569450"/>
            <a:ext cx="6854400" cy="25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Статическое распределение памяти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Стековое распределение памяти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Представление памяти в виде кучи (heap)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Статическое распределение памяти на примере двумерного массива</a:t>
            </a:r>
            <a:endParaRPr/>
          </a:p>
        </p:txBody>
      </p:sp>
      <p:pic>
        <p:nvPicPr>
          <p:cNvPr descr="https://lh4.googleusercontent.com/vOVKcSsGT12EvSo-LkGRYyswuL4eQmHaV2npxxJzgrTmmN-RnFDMmSPaokTuoNeHUdR9ZI2eqNGIaCmbTbvTTcyTGdPMgGyocO7yIOnHZk3N3ZhUzsMHacY-rwYSrmAFfH5OFPEsgshwprk5Fg" id="148" name="Google Shape;1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800" y="2468525"/>
            <a:ext cx="6854400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/>
        </p:nvSpPr>
        <p:spPr>
          <a:xfrm>
            <a:off x="1144800" y="3426700"/>
            <a:ext cx="6854400" cy="9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800">
                <a:solidFill>
                  <a:srgbClr val="4C5D6E"/>
                </a:solidFill>
              </a:rPr>
              <a:t>Address + </a:t>
            </a:r>
            <a:r>
              <a:rPr lang="en-US" sz="1800">
                <a:solidFill>
                  <a:srgbClr val="4C5D6E"/>
                </a:solidFill>
              </a:rPr>
              <a:t>SizeElem </a:t>
            </a:r>
            <a:r>
              <a:rPr lang="en-US" sz="1800">
                <a:solidFill>
                  <a:srgbClr val="4C5D6E"/>
                </a:solidFill>
              </a:rPr>
              <a:t>* Cols * i + SizeElem * j</a:t>
            </a:r>
            <a:endParaRPr sz="1800">
              <a:solidFill>
                <a:srgbClr val="4C5D6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Стековое управление памятью</a:t>
            </a:r>
            <a:endParaRPr/>
          </a:p>
        </p:txBody>
      </p:sp>
      <p:pic>
        <p:nvPicPr>
          <p:cNvPr descr="https://lh3.googleusercontent.com/rvDrjh3flBPB1VBbWHwyNtJDlf2JjGJoPrYbFXzuMZnTLM0o-dW1Yi5UabfN9bTj8uMnJ1QEPYm0OSx-avcT0SsSYG-7dSBJ-TZv-MohFCok0NIHrgap5l6p4OXmHjNNIh_KYaCM" id="155" name="Google Shape;1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075" y="2147356"/>
            <a:ext cx="2150490" cy="1501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6.googleusercontent.com/2qmwtWJS97XfCWSKmQiNuFYuL6HCj7uvWK0yrk9xmKwelt1yzmDG2cN6vNXyK4apesPMAh5RdfCzi1TzH8DULyGCkSng9pZ7wkKVRYMV27IcPvNiOFvxMnbvl7yZg-fnq-G0RjLA" id="156" name="Google Shape;15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148" y="1926330"/>
            <a:ext cx="1986225" cy="2403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5.googleusercontent.com/fBBO-cuff1qBXrZSXVZDV2FMx91LxMejm9LQTeLcXdNcA672ArFc0IMuvPs4txs1yu-FQrYY1zLiWVbhrdWrX6HSaOjdhYWYgpf-MMvNGU9yKWRsInN5WQdaf4_uJ9Waz1jAOzxB" id="157" name="Google Shape;15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7638" y="1882125"/>
            <a:ext cx="1591287" cy="2358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/>
          <p:nvPr/>
        </p:nvSpPr>
        <p:spPr>
          <a:xfrm>
            <a:off x="3852450" y="1437125"/>
            <a:ext cx="4144500" cy="22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Управление кучей</a:t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 rotWithShape="1">
          <a:blip r:embed="rId3">
            <a:alphaModFix/>
          </a:blip>
          <a:srcRect b="12064" l="0" r="0" t="12057"/>
          <a:stretch/>
        </p:blipFill>
        <p:spPr>
          <a:xfrm>
            <a:off x="521350" y="1437000"/>
            <a:ext cx="2959250" cy="224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169" name="Google Shape;169;p28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Память компьютера.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Проблемы управления памятью.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Способы выделения и фазы управления памятью.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Основные методы управления памятью.</a:t>
            </a:r>
            <a:endParaRPr sz="1800">
              <a:solidFill>
                <a:srgbClr val="2C2D3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175" name="Google Shape;175;p29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Системы счисления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Представление чисел в памяти (нули и единицы)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Системы счисления</a:t>
            </a:r>
            <a:endParaRPr/>
          </a:p>
        </p:txBody>
      </p:sp>
      <p:sp>
        <p:nvSpPr>
          <p:cNvPr id="181" name="Google Shape;181;p30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Десятичная					42	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Двоична						0b101010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Восьмеричная				0o52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Шестнадцатеричная			0x2a</a:t>
            </a:r>
            <a:endParaRPr sz="1800">
              <a:solidFill>
                <a:srgbClr val="2C2D3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Системы счисления</a:t>
            </a:r>
            <a:endParaRPr/>
          </a:p>
        </p:txBody>
      </p:sp>
      <p:graphicFrame>
        <p:nvGraphicFramePr>
          <p:cNvPr id="187" name="Google Shape;187;p31"/>
          <p:cNvGraphicFramePr/>
          <p:nvPr/>
        </p:nvGraphicFramePr>
        <p:xfrm>
          <a:off x="636350" y="166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{63B25B86-DB7E-4D9B-929A-8C8F392D352D}</a:tableStyleId>
              </a:tblPr>
              <a:tblGrid>
                <a:gridCol w="925725"/>
                <a:gridCol w="925725"/>
                <a:gridCol w="925725"/>
                <a:gridCol w="925725"/>
              </a:tblGrid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10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2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8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16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2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2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2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3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3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3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4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100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4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4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5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101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5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5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6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110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6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6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7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111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7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7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8" name="Google Shape;188;p31"/>
          <p:cNvGraphicFramePr/>
          <p:nvPr/>
        </p:nvGraphicFramePr>
        <p:xfrm>
          <a:off x="4804725" y="166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{63B25B86-DB7E-4D9B-929A-8C8F392D352D}</a:tableStyleId>
              </a:tblPr>
              <a:tblGrid>
                <a:gridCol w="925725"/>
                <a:gridCol w="925725"/>
                <a:gridCol w="925725"/>
                <a:gridCol w="925725"/>
              </a:tblGrid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10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2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8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16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8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1000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8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9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1001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9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1010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12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A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1011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13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B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12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1100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14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C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13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1101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15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D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14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1110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16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E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15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1111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17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F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Целые числа в двоичном коде</a:t>
            </a:r>
            <a:endParaRPr/>
          </a:p>
        </p:txBody>
      </p:sp>
      <p:graphicFrame>
        <p:nvGraphicFramePr>
          <p:cNvPr id="194" name="Google Shape;194;p32"/>
          <p:cNvGraphicFramePr/>
          <p:nvPr/>
        </p:nvGraphicFramePr>
        <p:xfrm>
          <a:off x="952513" y="182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{AAFBD071-E5A2-4510-8A84-6C94ECB00266}</a:tableStyleId>
              </a:tblPr>
              <a:tblGrid>
                <a:gridCol w="1806575"/>
                <a:gridCol w="603600"/>
                <a:gridCol w="603600"/>
                <a:gridCol w="603600"/>
                <a:gridCol w="603600"/>
                <a:gridCol w="603600"/>
                <a:gridCol w="603600"/>
                <a:gridCol w="603600"/>
                <a:gridCol w="603600"/>
                <a:gridCol w="603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Прямой </a:t>
                      </a:r>
                      <a:br>
                        <a:rPr b="1" lang="en-US">
                          <a:solidFill>
                            <a:srgbClr val="4C5D6E"/>
                          </a:solidFill>
                        </a:rPr>
                      </a:br>
                      <a:r>
                        <a:rPr b="1" lang="en-US">
                          <a:solidFill>
                            <a:srgbClr val="4C5D6E"/>
                          </a:solidFill>
                        </a:rPr>
                        <a:t>порядок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12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Обратный порядок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-12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Дополнительный порядок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C5D6E"/>
                          </a:solidFill>
                        </a:rPr>
                        <a:t>-12</a:t>
                      </a:r>
                      <a:endParaRPr b="1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0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/>
          <p:nvPr/>
        </p:nvSpPr>
        <p:spPr>
          <a:xfrm>
            <a:off x="11447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Вещественные </a:t>
            </a:r>
            <a:r>
              <a:rPr lang="en-US" sz="3200">
                <a:solidFill>
                  <a:srgbClr val="4C5D6E"/>
                </a:solidFill>
              </a:rPr>
              <a:t>числа в двоичном коде</a:t>
            </a:r>
            <a:endParaRPr/>
          </a:p>
        </p:txBody>
      </p:sp>
      <p:sp>
        <p:nvSpPr>
          <p:cNvPr id="200" name="Google Shape;200;p33"/>
          <p:cNvSpPr txBox="1"/>
          <p:nvPr/>
        </p:nvSpPr>
        <p:spPr>
          <a:xfrm>
            <a:off x="790800" y="1787625"/>
            <a:ext cx="7708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C5D6E"/>
                </a:solidFill>
              </a:rPr>
              <a:t>312,3125 == 100111000,0101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C5D6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800">
              <a:solidFill>
                <a:srgbClr val="4C5D6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C5D6E"/>
                </a:solidFill>
              </a:rPr>
              <a:t>100111000,0101 == 1,001110000101×2</a:t>
            </a:r>
            <a:r>
              <a:rPr baseline="30000" lang="en-US" sz="1800">
                <a:solidFill>
                  <a:srgbClr val="4C5D6E"/>
                </a:solidFill>
              </a:rPr>
              <a:t>8  </a:t>
            </a:r>
            <a:r>
              <a:rPr lang="en-US" sz="1800">
                <a:solidFill>
                  <a:srgbClr val="4C5D6E"/>
                </a:solidFill>
              </a:rPr>
              <a:t>== 1,001110000101×10</a:t>
            </a:r>
            <a:r>
              <a:rPr baseline="30000" lang="en-US" sz="1800">
                <a:solidFill>
                  <a:srgbClr val="4C5D6E"/>
                </a:solidFill>
              </a:rPr>
              <a:t>1000</a:t>
            </a:r>
            <a:endParaRPr baseline="30000" sz="1800">
              <a:solidFill>
                <a:srgbClr val="4C5D6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/>
          <p:nvPr/>
        </p:nvSpPr>
        <p:spPr>
          <a:xfrm>
            <a:off x="11447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Вещественные числа в двоичном коде</a:t>
            </a:r>
            <a:endParaRPr/>
          </a:p>
        </p:txBody>
      </p:sp>
      <p:graphicFrame>
        <p:nvGraphicFramePr>
          <p:cNvPr id="206" name="Google Shape;206;p34"/>
          <p:cNvGraphicFramePr/>
          <p:nvPr/>
        </p:nvGraphicFramePr>
        <p:xfrm>
          <a:off x="558175" y="179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{AAFBD071-E5A2-4510-8A84-6C94ECB00266}</a:tableStyleId>
              </a:tblPr>
              <a:tblGrid>
                <a:gridCol w="872600"/>
                <a:gridCol w="423225"/>
                <a:gridCol w="423225"/>
                <a:gridCol w="423225"/>
                <a:gridCol w="423225"/>
                <a:gridCol w="423225"/>
                <a:gridCol w="423225"/>
                <a:gridCol w="423225"/>
                <a:gridCol w="423225"/>
                <a:gridCol w="423225"/>
                <a:gridCol w="423225"/>
                <a:gridCol w="423225"/>
                <a:gridCol w="423225"/>
                <a:gridCol w="423225"/>
                <a:gridCol w="423225"/>
                <a:gridCol w="423225"/>
                <a:gridCol w="423225"/>
                <a:gridCol w="423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Название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Знак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Порядок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Мантисса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Индекс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31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30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29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28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27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26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25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24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23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22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21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20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19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18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17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16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Бит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7" name="Google Shape;207;p34"/>
          <p:cNvGraphicFramePr/>
          <p:nvPr/>
        </p:nvGraphicFramePr>
        <p:xfrm>
          <a:off x="558175" y="325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{AAFBD071-E5A2-4510-8A84-6C94ECB00266}</a:tableStyleId>
              </a:tblPr>
              <a:tblGrid>
                <a:gridCol w="872600"/>
                <a:gridCol w="449650"/>
                <a:gridCol w="449650"/>
                <a:gridCol w="449650"/>
                <a:gridCol w="449650"/>
                <a:gridCol w="449650"/>
                <a:gridCol w="449650"/>
                <a:gridCol w="449650"/>
                <a:gridCol w="449650"/>
                <a:gridCol w="449650"/>
                <a:gridCol w="449650"/>
                <a:gridCol w="449650"/>
                <a:gridCol w="449650"/>
                <a:gridCol w="449650"/>
                <a:gridCol w="449650"/>
                <a:gridCol w="449650"/>
                <a:gridCol w="449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Название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1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Мантисса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Индекс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15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14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13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12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11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9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8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7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6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5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4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3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2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Бит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1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C5D6E"/>
                          </a:solidFill>
                        </a:rPr>
                        <a:t>0</a:t>
                      </a:r>
                      <a:endParaRPr sz="1200"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18000" marL="1800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213" name="Google Shape;213;p35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Системы счисления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Представление чисел в памяти (нули и единицы)</a:t>
            </a:r>
            <a:endParaRPr sz="1600">
              <a:solidFill>
                <a:srgbClr val="2C2D30"/>
              </a:solidFill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Практика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Функции преобразования систем счисления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219" name="Google Shape;219;p36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Список (</a:t>
            </a:r>
            <a:r>
              <a:rPr b="1" lang="en-US" sz="1600">
                <a:solidFill>
                  <a:srgbClr val="2C2D30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-US" sz="1600">
                <a:solidFill>
                  <a:srgbClr val="2C2D30"/>
                </a:solidFill>
              </a:rPr>
              <a:t>) - как он работает в недрах Python?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Список. List</a:t>
            </a:r>
            <a:endParaRPr/>
          </a:p>
        </p:txBody>
      </p:sp>
      <p:sp>
        <p:nvSpPr>
          <p:cNvPr id="225" name="Google Shape;225;p37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 sz="1600">
                <a:solidFill>
                  <a:srgbClr val="2C2D30"/>
                </a:solidFill>
              </a:rPr>
              <a:t>Список (</a:t>
            </a:r>
            <a:r>
              <a:rPr b="1" lang="en-US" sz="1600">
                <a:solidFill>
                  <a:srgbClr val="2C2D30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1" lang="en-US" sz="1600">
                <a:solidFill>
                  <a:srgbClr val="2C2D30"/>
                </a:solidFill>
              </a:rPr>
              <a:t>) </a:t>
            </a:r>
            <a:r>
              <a:rPr lang="en-US" sz="1600">
                <a:solidFill>
                  <a:srgbClr val="2C2D30"/>
                </a:solidFill>
              </a:rPr>
              <a:t>- упорядоченная изменяемая коллекция объектов произвольных типов, к которым можно обратиться по индексу.</a:t>
            </a:r>
            <a:endParaRPr b="1"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list.append, list.extend</a:t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0475" y="1721300"/>
            <a:ext cx="1533525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9975" y="1618275"/>
            <a:ext cx="1533525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list.insert</a:t>
            </a:r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7488" y="1537225"/>
            <a:ext cx="5369019" cy="31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list.pop</a:t>
            </a:r>
            <a:endParaRPr/>
          </a:p>
        </p:txBody>
      </p:sp>
      <p:pic>
        <p:nvPicPr>
          <p:cNvPr id="244" name="Google Shape;2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3475" y="1515300"/>
            <a:ext cx="4657059" cy="31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list.pop</a:t>
            </a:r>
            <a:endParaRPr/>
          </a:p>
        </p:txBody>
      </p:sp>
      <p:pic>
        <p:nvPicPr>
          <p:cNvPr id="250" name="Google Shape;2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475" y="1550950"/>
            <a:ext cx="4661044" cy="31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list.remove</a:t>
            </a:r>
            <a:endParaRPr/>
          </a:p>
        </p:txBody>
      </p:sp>
      <p:pic>
        <p:nvPicPr>
          <p:cNvPr id="256" name="Google Shape;25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438" y="1544075"/>
            <a:ext cx="4175134" cy="31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262" name="Google Shape;262;p43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 и </a:t>
            </a:r>
            <a:r>
              <a:rPr b="1" lang="en-US" sz="1800">
                <a:solidFill>
                  <a:srgbClr val="2C2D30"/>
                </a:solidFill>
              </a:rPr>
              <a:t>Практика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Список (</a:t>
            </a:r>
            <a:r>
              <a:rPr b="1" lang="en-US" sz="1600">
                <a:solidFill>
                  <a:srgbClr val="2C2D30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en-US" sz="1600">
                <a:solidFill>
                  <a:srgbClr val="2C2D30"/>
                </a:solidFill>
              </a:rPr>
              <a:t>) - основные методы и как они работают.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268" name="Google Shape;268;p44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Сколько места занимают объекты в памяти?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274" name="Google Shape;274;p45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Сколько места занимают объекты в памяти</a:t>
            </a:r>
            <a:endParaRPr sz="1600">
              <a:solidFill>
                <a:srgbClr val="2C2D30"/>
              </a:solidFill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Практика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Программа для рекурсивного подсчёта занимаемой объектом памяти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280" name="Google Shape;280;p46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Структура</a:t>
            </a:r>
            <a:r>
              <a:rPr lang="en-US" sz="1600">
                <a:solidFill>
                  <a:srgbClr val="2C2D30"/>
                </a:solidFill>
              </a:rPr>
              <a:t> объекта в памяти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Переменная в Python</a:t>
            </a:r>
            <a:endParaRPr/>
          </a:p>
        </p:txBody>
      </p:sp>
      <p:sp>
        <p:nvSpPr>
          <p:cNvPr id="286" name="Google Shape;286;p47"/>
          <p:cNvSpPr/>
          <p:nvPr/>
        </p:nvSpPr>
        <p:spPr>
          <a:xfrm>
            <a:off x="6212575" y="2538500"/>
            <a:ext cx="1133100" cy="44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Объект</a:t>
            </a:r>
            <a:endParaRPr/>
          </a:p>
        </p:txBody>
      </p:sp>
      <p:sp>
        <p:nvSpPr>
          <p:cNvPr id="287" name="Google Shape;287;p47"/>
          <p:cNvSpPr/>
          <p:nvPr/>
        </p:nvSpPr>
        <p:spPr>
          <a:xfrm>
            <a:off x="2842175" y="1714450"/>
            <a:ext cx="1579500" cy="35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Переменная “a”</a:t>
            </a:r>
            <a:endParaRPr/>
          </a:p>
        </p:txBody>
      </p:sp>
      <p:sp>
        <p:nvSpPr>
          <p:cNvPr id="288" name="Google Shape;288;p47"/>
          <p:cNvSpPr/>
          <p:nvPr/>
        </p:nvSpPr>
        <p:spPr>
          <a:xfrm>
            <a:off x="1798325" y="2349000"/>
            <a:ext cx="1579500" cy="35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Переменная “b”</a:t>
            </a:r>
            <a:endParaRPr/>
          </a:p>
        </p:txBody>
      </p:sp>
      <p:sp>
        <p:nvSpPr>
          <p:cNvPr id="289" name="Google Shape;289;p47"/>
          <p:cNvSpPr/>
          <p:nvPr/>
        </p:nvSpPr>
        <p:spPr>
          <a:xfrm>
            <a:off x="3008275" y="3111125"/>
            <a:ext cx="1579500" cy="35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Переменная “c”</a:t>
            </a:r>
            <a:endParaRPr/>
          </a:p>
        </p:txBody>
      </p:sp>
      <p:sp>
        <p:nvSpPr>
          <p:cNvPr id="290" name="Google Shape;290;p47"/>
          <p:cNvSpPr/>
          <p:nvPr/>
        </p:nvSpPr>
        <p:spPr>
          <a:xfrm>
            <a:off x="2618125" y="4046375"/>
            <a:ext cx="1579500" cy="35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Переменная “d”</a:t>
            </a:r>
            <a:endParaRPr/>
          </a:p>
        </p:txBody>
      </p:sp>
      <p:cxnSp>
        <p:nvCxnSpPr>
          <p:cNvPr id="291" name="Google Shape;291;p47"/>
          <p:cNvCxnSpPr>
            <a:endCxn id="286" idx="1"/>
          </p:cNvCxnSpPr>
          <p:nvPr/>
        </p:nvCxnSpPr>
        <p:spPr>
          <a:xfrm>
            <a:off x="4413475" y="1886300"/>
            <a:ext cx="1799100" cy="875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47"/>
          <p:cNvCxnSpPr>
            <a:endCxn id="286" idx="1"/>
          </p:cNvCxnSpPr>
          <p:nvPr/>
        </p:nvCxnSpPr>
        <p:spPr>
          <a:xfrm>
            <a:off x="3383275" y="2531600"/>
            <a:ext cx="2829300" cy="230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47"/>
          <p:cNvCxnSpPr>
            <a:stCxn id="289" idx="3"/>
            <a:endCxn id="286" idx="1"/>
          </p:cNvCxnSpPr>
          <p:nvPr/>
        </p:nvCxnSpPr>
        <p:spPr>
          <a:xfrm flipH="1" rot="10800000">
            <a:off x="4587775" y="2761775"/>
            <a:ext cx="1624800" cy="524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47"/>
          <p:cNvCxnSpPr>
            <a:stCxn id="290" idx="3"/>
            <a:endCxn id="286" idx="1"/>
          </p:cNvCxnSpPr>
          <p:nvPr/>
        </p:nvCxnSpPr>
        <p:spPr>
          <a:xfrm flipH="1" rot="10800000">
            <a:off x="4197625" y="2761625"/>
            <a:ext cx="2015100" cy="1459800"/>
          </a:xfrm>
          <a:prstGeom prst="curved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Структура объекта в памяти</a:t>
            </a:r>
            <a:endParaRPr/>
          </a:p>
        </p:txBody>
      </p:sp>
      <p:graphicFrame>
        <p:nvGraphicFramePr>
          <p:cNvPr id="300" name="Google Shape;300;p48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{AAFBD071-E5A2-4510-8A84-6C94ECB00266}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Счетчик ссылок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Указатель на тип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Содержимое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7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1624869344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4C5D6E"/>
                          </a:solidFill>
                        </a:rPr>
                        <a:t>42</a:t>
                      </a:r>
                      <a:endParaRPr>
                        <a:solidFill>
                          <a:srgbClr val="4C5D6E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9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Расшифровка </a:t>
            </a:r>
            <a:r>
              <a:rPr b="1" lang="en-US" sz="3200">
                <a:solidFill>
                  <a:srgbClr val="4C5D6E"/>
                </a:solidFill>
                <a:latin typeface="Courier New"/>
                <a:ea typeface="Courier New"/>
                <a:cs typeface="Courier New"/>
                <a:sym typeface="Courier New"/>
              </a:rPr>
              <a:t>struct.unpack</a:t>
            </a:r>
            <a:endParaRPr b="1" sz="3200">
              <a:solidFill>
                <a:srgbClr val="4C5D6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306" name="Google Shape;306;p49"/>
          <p:cNvGraphicFramePr/>
          <p:nvPr/>
        </p:nvGraphicFramePr>
        <p:xfrm>
          <a:off x="1245021" y="19164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{63B25B86-DB7E-4D9B-929A-8C8F392D352D}</a:tableStyleId>
              </a:tblPr>
              <a:tblGrid>
                <a:gridCol w="1502200"/>
                <a:gridCol w="1723675"/>
                <a:gridCol w="1723675"/>
                <a:gridCol w="1704425"/>
              </a:tblGrid>
              <a:tr h="60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3F3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Символ</a:t>
                      </a:r>
                      <a:endParaRPr sz="1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5D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3F3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Значение C</a:t>
                      </a:r>
                      <a:endParaRPr sz="1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5D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3F3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Значение Python</a:t>
                      </a:r>
                      <a:endParaRPr sz="1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5D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3F3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Длина</a:t>
                      </a:r>
                      <a:r>
                        <a:rPr b="1" lang="en-US" sz="1000">
                          <a:solidFill>
                            <a:srgbClr val="F3F3F3"/>
                          </a:solidFill>
                        </a:rPr>
                        <a:t> в байтах</a:t>
                      </a:r>
                      <a:endParaRPr sz="1000" u="none" cap="none" strike="noStrike">
                        <a:solidFill>
                          <a:srgbClr val="F3F3F3"/>
                        </a:solidFill>
                      </a:endParaRPr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5D6E"/>
                    </a:solidFill>
                  </a:tcPr>
                </a:tc>
              </a:tr>
              <a:tr h="494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C2D30"/>
                          </a:solidFill>
                        </a:rPr>
                        <a:t>c</a:t>
                      </a:r>
                      <a:endParaRPr b="1"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char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Строка из одного символа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9ED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C2D30"/>
                          </a:solidFill>
                        </a:rPr>
                        <a:t>i</a:t>
                      </a:r>
                      <a:endParaRPr b="1"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3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C2D30"/>
                          </a:solidFill>
                        </a:rPr>
                        <a:t>l</a:t>
                      </a:r>
                      <a:endParaRPr b="1"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C2D30"/>
                          </a:solidFill>
                        </a:rPr>
                        <a:t>L</a:t>
                      </a:r>
                      <a:endParaRPr b="1"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unsigned long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33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2C2D30"/>
                          </a:solidFill>
                        </a:rPr>
                        <a:t>d</a:t>
                      </a:r>
                      <a:endParaRPr b="1"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double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float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D3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2C2D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000" u="none" cap="none" strike="noStrike"/>
                    </a:p>
                  </a:txBody>
                  <a:tcPr marT="57150" marB="57150" marR="228600" marL="22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312" name="Google Shape;312;p50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 и </a:t>
            </a:r>
            <a:r>
              <a:rPr b="1" lang="en-US" sz="1800">
                <a:solidFill>
                  <a:srgbClr val="2C2D30"/>
                </a:solidFill>
              </a:rPr>
              <a:t>Практика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Структура</a:t>
            </a:r>
            <a:r>
              <a:rPr lang="en-US" sz="1600">
                <a:solidFill>
                  <a:srgbClr val="2C2D30"/>
                </a:solidFill>
              </a:rPr>
              <a:t> объекта в памяти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Домашнее задание</a:t>
            </a:r>
            <a:endParaRPr/>
          </a:p>
        </p:txBody>
      </p:sp>
      <p:sp>
        <p:nvSpPr>
          <p:cNvPr id="318" name="Google Shape;318;p51"/>
          <p:cNvSpPr/>
          <p:nvPr/>
        </p:nvSpPr>
        <p:spPr>
          <a:xfrm>
            <a:off x="1142375" y="1366575"/>
            <a:ext cx="6854400" cy="3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AutoNum type="arabicPeriod"/>
            </a:pPr>
            <a:r>
              <a:rPr lang="en-US" sz="1600">
                <a:solidFill>
                  <a:srgbClr val="2C2D30"/>
                </a:solidFill>
              </a:rPr>
              <a:t>Подсчитать, сколько было выделено памяти под переменные в программах, разработанных на первых трех уроках.</a:t>
            </a:r>
            <a:br>
              <a:rPr lang="en-US" sz="1600">
                <a:solidFill>
                  <a:srgbClr val="2C2D30"/>
                </a:solidFill>
              </a:rPr>
            </a:br>
            <a:br>
              <a:rPr lang="en-US" sz="1600">
                <a:solidFill>
                  <a:srgbClr val="2C2D30"/>
                </a:solidFill>
              </a:rPr>
            </a:br>
            <a:r>
              <a:rPr lang="en-US" sz="1600">
                <a:solidFill>
                  <a:srgbClr val="2C2D30"/>
                </a:solidFill>
              </a:rPr>
              <a:t>Выберите 3 любые ваши программы для подсчёта. </a:t>
            </a:r>
            <a:endParaRPr b="1" i="1" sz="1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2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324" name="Google Shape;324;p52"/>
          <p:cNvSpPr/>
          <p:nvPr/>
        </p:nvSpPr>
        <p:spPr>
          <a:xfrm>
            <a:off x="1142375" y="1382050"/>
            <a:ext cx="68544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Разбор домашнего задания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