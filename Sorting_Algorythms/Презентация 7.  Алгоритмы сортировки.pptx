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839cee6_0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a839cee6_0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be5c000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be5c000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be5c0009_0_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be5c0009_0_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be5c0009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be5c0009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66204806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66204806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77256120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77256120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839cee6_0_1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a839cee6_0_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839cee6_0_2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a839cee6_0_2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82d0b8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da82d0b8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66204806_1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866204806_1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82d0b8f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a82d0b8f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839cee6_0_2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a839cee6_0_2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82d0b8f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a82d0b8f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7256120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77256120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a82d0b8f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a82d0b8f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a839cee6_0_2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a839cee6_0_2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a82d0b8f_0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a82d0b8f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a82d0b8f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a82d0b8f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a82d0b8f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a82d0b8f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82d0b8f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a82d0b8f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a839cee6_0_2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a839cee6_0_2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be5c0009_0_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dbe5c0009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ab3fe3ed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dab3fe3ed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ab3fe3ed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dab3fe3ed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ab3fe3e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ab3fe3e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a839cee6_0_2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a839cee6_0_2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ae4d5969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ae4d5969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ae4d596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ae4d596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46aa31cd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846aa31cd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77256120_0_3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977256120_0_3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839cee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da839cee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вертикально" showMasterSp="0" type="tx">
  <p:cSld name="TITLE_AND_BODY">
    <p:bg>
      <p:bgPr>
        <a:solidFill>
          <a:srgbClr val="22222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>
            <p:ph idx="2" type="pic"/>
          </p:nvPr>
        </p:nvSpPr>
        <p:spPr>
          <a:xfrm>
            <a:off x="1143000" y="0"/>
            <a:ext cx="289321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250531" y="3388816"/>
            <a:ext cx="3536157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377405" y="1896846"/>
            <a:ext cx="3536157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 showMasterSp="0">
  <p:cSld name="Заголовок и пункты">
    <p:bg>
      <p:bgPr>
        <a:solidFill>
          <a:srgbClr val="2222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571172" y="4572010"/>
            <a:ext cx="571202" cy="571501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ading-logo.png"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826" y="4636176"/>
            <a:ext cx="413781" cy="4431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71175" y="-1"/>
            <a:ext cx="571201" cy="190202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 type="title">
  <p:cSld name="TITLE">
    <p:bg>
      <p:bgPr>
        <a:solidFill>
          <a:srgbClr val="22222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горизонтально" showMasterSp="0">
  <p:cSld name="Фото - горизонтально">
    <p:bg>
      <p:bgPr>
        <a:solidFill>
          <a:srgbClr val="22222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cxnSp>
        <p:nvCxnSpPr>
          <p:cNvPr id="29" name="Google Shape;29;p5"/>
          <p:cNvCxnSpPr/>
          <p:nvPr>
            <p:ph idx="1" type="body"/>
          </p:nvPr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>
  <p:cSld name="Заголовок и подзаголовок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6"/>
          <p:cNvCxnSpPr/>
          <p:nvPr/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" name="Google Shape;35;p6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558478" y="221009"/>
            <a:ext cx="212578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по центру" showMasterSp="0">
  <p:cSld name="Заголовок - по центру">
    <p:bg>
      <p:bgPr>
        <a:solidFill>
          <a:srgbClr val="2222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1357312" y="2129730"/>
            <a:ext cx="6429376" cy="23842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вверху">
  <p:cSld name="Заголовок - вверху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, дополн.">
  <p:cSld name="Заголовок и пункты, дополн.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bg>
      <p:bgPr>
        <a:solidFill>
          <a:srgbClr val="22222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2" name="Google Shape;52;p10"/>
          <p:cNvSpPr/>
          <p:nvPr>
            <p:ph idx="2" type="pic"/>
          </p:nvPr>
        </p:nvSpPr>
        <p:spPr>
          <a:xfrm>
            <a:off x="4893468" y="810369"/>
            <a:ext cx="2893220" cy="41121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1357312" y="810369"/>
            <a:ext cx="3321845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3" type="body"/>
          </p:nvPr>
        </p:nvSpPr>
        <p:spPr>
          <a:xfrm>
            <a:off x="1357312" y="1446609"/>
            <a:ext cx="3321845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1944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21944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21944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21944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bg>
      <p:bgPr>
        <a:solidFill>
          <a:srgbClr val="22222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3 шт." showMasterSp="0">
  <p:cSld name="Фото - 3 шт.">
    <p:bg>
      <p:bgPr>
        <a:solidFill>
          <a:srgbClr val="22222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>
            <p:ph idx="2" type="pic"/>
          </p:nvPr>
        </p:nvSpPr>
        <p:spPr>
          <a:xfrm>
            <a:off x="4572398" y="0"/>
            <a:ext cx="3429001" cy="25650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2" name="Google Shape;62;p12"/>
          <p:cNvSpPr/>
          <p:nvPr>
            <p:ph idx="3" type="pic"/>
          </p:nvPr>
        </p:nvSpPr>
        <p:spPr>
          <a:xfrm>
            <a:off x="4572000" y="2585144"/>
            <a:ext cx="3429001" cy="25650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3" name="Google Shape;63;p12"/>
          <p:cNvSpPr/>
          <p:nvPr>
            <p:ph idx="4" type="pic"/>
          </p:nvPr>
        </p:nvSpPr>
        <p:spPr>
          <a:xfrm>
            <a:off x="1143000" y="0"/>
            <a:ext cx="341114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bg>
      <p:bgPr>
        <a:solidFill>
          <a:srgbClr val="22222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1390798" y="1245691"/>
            <a:ext cx="6362304" cy="2757488"/>
          </a:xfrm>
          <a:custGeom>
            <a:rect b="b" l="l" r="r" t="t"/>
            <a:pathLst>
              <a:path extrusionOk="0" h="120000" w="120000">
                <a:moveTo>
                  <a:pt x="1244" y="0"/>
                </a:moveTo>
                <a:cubicBezTo>
                  <a:pt x="555" y="0"/>
                  <a:pt x="0" y="1283"/>
                  <a:pt x="0" y="2866"/>
                </a:cubicBezTo>
                <a:lnTo>
                  <a:pt x="0" y="104388"/>
                </a:lnTo>
                <a:cubicBezTo>
                  <a:pt x="0" y="105966"/>
                  <a:pt x="555" y="107255"/>
                  <a:pt x="1244" y="107255"/>
                </a:cubicBezTo>
                <a:lnTo>
                  <a:pt x="95716" y="107255"/>
                </a:lnTo>
                <a:lnTo>
                  <a:pt x="99166" y="120000"/>
                </a:lnTo>
                <a:lnTo>
                  <a:pt x="102616" y="107255"/>
                </a:lnTo>
                <a:lnTo>
                  <a:pt x="118755" y="107255"/>
                </a:lnTo>
                <a:cubicBezTo>
                  <a:pt x="119444" y="107255"/>
                  <a:pt x="120000" y="105966"/>
                  <a:pt x="120000" y="104388"/>
                </a:cubicBezTo>
                <a:lnTo>
                  <a:pt x="120000" y="2866"/>
                </a:lnTo>
                <a:cubicBezTo>
                  <a:pt x="120000" y="1283"/>
                  <a:pt x="119444" y="0"/>
                  <a:pt x="118755" y="0"/>
                </a:cubicBezTo>
                <a:lnTo>
                  <a:pt x="12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1611808" y="1533673"/>
            <a:ext cx="5920384" cy="13337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1357312" y="4107656"/>
            <a:ext cx="6429376" cy="498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3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 showMasterSp="0">
  <p:cSld name="Цитата 2">
    <p:bg>
      <p:bgPr>
        <a:solidFill>
          <a:schemeClr val="accen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250531" y="1393031"/>
            <a:ext cx="3536157" cy="190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3" name="Google Shape;73;p14"/>
          <p:cNvSpPr/>
          <p:nvPr>
            <p:ph idx="2" type="pic"/>
          </p:nvPr>
        </p:nvSpPr>
        <p:spPr>
          <a:xfrm>
            <a:off x="1143000" y="0"/>
            <a:ext cx="289321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3" type="body"/>
          </p:nvPr>
        </p:nvSpPr>
        <p:spPr>
          <a:xfrm>
            <a:off x="4250531" y="4086324"/>
            <a:ext cx="3536157" cy="498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 showMasterSp="0">
  <p:cSld name="Фото">
    <p:bg>
      <p:bgPr>
        <a:solidFill>
          <a:srgbClr val="22222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">
    <p:bg>
      <p:bgPr>
        <a:solidFill>
          <a:srgbClr val="22222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 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 flipH="1" rot="10800000">
            <a:off x="1357312" y="523737"/>
            <a:ext cx="6429376" cy="139"/>
          </a:xfrm>
          <a:prstGeom prst="straightConnector1">
            <a:avLst/>
          </a:prstGeom>
          <a:noFill/>
          <a:ln cap="flat" cmpd="sng" w="9525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" name="Google Shape;7;p1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DF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888575" y="761550"/>
            <a:ext cx="5968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C2CA"/>
              </a:buClr>
              <a:buFont typeface="Arial"/>
              <a:buNone/>
            </a:pPr>
            <a:r>
              <a:rPr lang="en-US" sz="1600">
                <a:solidFill>
                  <a:srgbClr val="BDC2CA"/>
                </a:solidFill>
              </a:rPr>
              <a:t>Алгоритмы и структуры данных на Python. Интерактивный курс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566259" y="1074198"/>
            <a:ext cx="3266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venir"/>
              <a:buNone/>
            </a:pPr>
            <a:r>
              <a:rPr b="1" i="0" lang="en-US" sz="2000" u="none" cap="none" strike="noStrike">
                <a:solidFill>
                  <a:srgbClr val="4C5D6E"/>
                </a:solidFill>
                <a:latin typeface="Arial"/>
                <a:ea typeface="Arial"/>
                <a:cs typeface="Arial"/>
                <a:sym typeface="Arial"/>
              </a:rPr>
              <a:t>Урок </a:t>
            </a:r>
            <a:r>
              <a:rPr b="1" lang="en-US" sz="2000">
                <a:solidFill>
                  <a:srgbClr val="4C5D6E"/>
                </a:solidFill>
              </a:rPr>
              <a:t>7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3566250" y="1905175"/>
            <a:ext cx="47841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4000">
                <a:solidFill>
                  <a:srgbClr val="4C5D6E"/>
                </a:solidFill>
              </a:rPr>
              <a:t>Алгоритмы сортировки</a:t>
            </a:r>
            <a:endParaRPr/>
          </a:p>
        </p:txBody>
      </p:sp>
      <p:pic>
        <p:nvPicPr>
          <p:cNvPr descr="Python copy.png"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850" y="1302988"/>
            <a:ext cx="2537526" cy="25375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3570400" y="3591300"/>
            <a:ext cx="4784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A8B7"/>
              </a:buClr>
              <a:buFont typeface="Arial"/>
              <a:buNone/>
            </a:pPr>
            <a:r>
              <a:rPr lang="en-US" sz="2400">
                <a:solidFill>
                  <a:srgbClr val="99A8B7"/>
                </a:solidFill>
              </a:rPr>
              <a:t>Сортировка пузырьком. Быстрая сортировка (Quick sort). Сортировка Шелла.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Понятие сортировки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Способы оценки сортировки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пузырьком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Понятие сортировки</a:t>
            </a:r>
            <a:endParaRPr/>
          </a:p>
        </p:txBody>
      </p:sp>
      <p:sp>
        <p:nvSpPr>
          <p:cNvPr id="103" name="Google Shape;103;p20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1600">
                <a:solidFill>
                  <a:srgbClr val="2C2D30"/>
                </a:solidFill>
              </a:rPr>
              <a:t>Сортировка</a:t>
            </a:r>
            <a:r>
              <a:rPr b="1" lang="en-US" sz="1600">
                <a:solidFill>
                  <a:srgbClr val="2C2D30"/>
                </a:solidFill>
              </a:rPr>
              <a:t> </a:t>
            </a:r>
            <a:r>
              <a:rPr lang="en-US" sz="1600">
                <a:solidFill>
                  <a:srgbClr val="2C2D30"/>
                </a:solidFill>
              </a:rPr>
              <a:t>- это</a:t>
            </a:r>
            <a:r>
              <a:rPr lang="en-US" sz="1600">
                <a:solidFill>
                  <a:srgbClr val="2C2D30"/>
                </a:solidFill>
              </a:rPr>
              <a:t> упорядочивание элементов </a:t>
            </a:r>
            <a:r>
              <a:rPr lang="en-US" sz="1600">
                <a:solidFill>
                  <a:srgbClr val="2C2D30"/>
                </a:solidFill>
              </a:rPr>
              <a:t>любой структуры хранения данных в соответствии с выбранным критерием. </a:t>
            </a:r>
            <a:endParaRPr b="1"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2990"/>
            <a:ext cx="914400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</a:t>
            </a:r>
            <a:endParaRPr/>
          </a:p>
        </p:txBody>
      </p:sp>
      <p:sp>
        <p:nvSpPr>
          <p:cNvPr id="114" name="Google Shape;114;p22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Обычно под </a:t>
            </a:r>
            <a:r>
              <a:rPr b="1" lang="en-US" sz="1600">
                <a:solidFill>
                  <a:srgbClr val="2C2D30"/>
                </a:solidFill>
              </a:rPr>
              <a:t>алгоритмом сортировки </a:t>
            </a:r>
            <a:r>
              <a:rPr lang="en-US" sz="1600">
                <a:solidFill>
                  <a:srgbClr val="2C2D30"/>
                </a:solidFill>
              </a:rPr>
              <a:t>подразумевают у</a:t>
            </a:r>
            <a:r>
              <a:rPr lang="en-US" sz="1600">
                <a:solidFill>
                  <a:srgbClr val="2C2D30"/>
                </a:solidFill>
              </a:rPr>
              <a:t>порядочивание множества элементов по возрастанию или убыванию одного из «ключей» </a:t>
            </a:r>
            <a:endParaRPr b="1"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Практически каждый алгоритм сортировки можно разбить на 3 части:</a:t>
            </a:r>
            <a:endParaRPr/>
          </a:p>
        </p:txBody>
      </p:sp>
      <p:sp>
        <p:nvSpPr>
          <p:cNvPr id="120" name="Google Shape;120;p23"/>
          <p:cNvSpPr/>
          <p:nvPr/>
        </p:nvSpPr>
        <p:spPr>
          <a:xfrm>
            <a:off x="1142375" y="1826675"/>
            <a:ext cx="68544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Сравнение, определяющее упорядоченность пары элементов;  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Перестановка, меняющая местами пару элементов;  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Сортирующий алгоритм, который сравнивает и переставляет элементы до тех пор, пока все они не будут упорядочены.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пузырьком</a:t>
            </a:r>
            <a:endParaRPr/>
          </a:p>
        </p:txBody>
      </p:sp>
      <p:sp>
        <p:nvSpPr>
          <p:cNvPr id="126" name="Google Shape;126;p24"/>
          <p:cNvSpPr/>
          <p:nvPr/>
        </p:nvSpPr>
        <p:spPr>
          <a:xfrm>
            <a:off x="1142375" y="1380300"/>
            <a:ext cx="68544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Сложность: 					O(n</a:t>
            </a:r>
            <a:r>
              <a:rPr baseline="30000" lang="en-US" sz="1600">
                <a:solidFill>
                  <a:srgbClr val="2C2D30"/>
                </a:solidFill>
              </a:rPr>
              <a:t>2</a:t>
            </a:r>
            <a:r>
              <a:rPr lang="en-US" sz="1600">
                <a:solidFill>
                  <a:srgbClr val="2C2D30"/>
                </a:solidFill>
              </a:rPr>
              <a:t>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Устойчивость (стабильность):	Устойчивая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Тип (категория):				Обменная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Потребление памяти:			Не требует доп.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Сортировки и способы (критерии) оценки сортировки</a:t>
            </a:r>
            <a:endParaRPr sz="1600">
              <a:solidFill>
                <a:srgbClr val="2C2D30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пузырьком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138" name="Google Shape;138;p26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выбором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выбором</a:t>
            </a:r>
            <a:endParaRPr/>
          </a:p>
        </p:txBody>
      </p:sp>
      <p:sp>
        <p:nvSpPr>
          <p:cNvPr id="144" name="Google Shape;144;p27"/>
          <p:cNvSpPr/>
          <p:nvPr/>
        </p:nvSpPr>
        <p:spPr>
          <a:xfrm>
            <a:off x="1142375" y="1380300"/>
            <a:ext cx="68544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Сложность: 					O(n</a:t>
            </a:r>
            <a:r>
              <a:rPr baseline="30000" lang="en-US" sz="1600">
                <a:solidFill>
                  <a:srgbClr val="2C2D30"/>
                </a:solidFill>
              </a:rPr>
              <a:t>2</a:t>
            </a:r>
            <a:r>
              <a:rPr lang="en-US" sz="1600">
                <a:solidFill>
                  <a:srgbClr val="2C2D30"/>
                </a:solidFill>
              </a:rPr>
              <a:t>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Устойчивость (стабильность):	Устойчивая / неустойчивая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Тип (категория):				Выбором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Потребление памяти:			Не требует доп.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выбором</a:t>
            </a:r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1142375" y="1414625"/>
            <a:ext cx="6854400" cy="3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Найти наименьший элемент в неотсортированной части массива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Поменять его местами с первым элементом в </a:t>
            </a:r>
            <a:r>
              <a:rPr lang="en-US" sz="1600">
                <a:solidFill>
                  <a:srgbClr val="2C2D30"/>
                </a:solidFill>
              </a:rPr>
              <a:t>неотсортированной части </a:t>
            </a:r>
            <a:r>
              <a:rPr lang="en-US" sz="1600">
                <a:solidFill>
                  <a:srgbClr val="2C2D30"/>
                </a:solidFill>
              </a:rPr>
              <a:t>массива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Продолжать эти действия, пока весь массив не будет отсортирован.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156" name="Google Shape;156;p29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</a:t>
            </a: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выбором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162" name="Google Shape;162;p30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вставками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вставками</a:t>
            </a:r>
            <a:endParaRPr/>
          </a:p>
        </p:txBody>
      </p:sp>
      <p:sp>
        <p:nvSpPr>
          <p:cNvPr id="168" name="Google Shape;168;p31"/>
          <p:cNvSpPr/>
          <p:nvPr/>
        </p:nvSpPr>
        <p:spPr>
          <a:xfrm>
            <a:off x="1142375" y="1380300"/>
            <a:ext cx="68544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Сложность: 					O(n</a:t>
            </a:r>
            <a:r>
              <a:rPr baseline="30000" lang="en-US" sz="1600">
                <a:solidFill>
                  <a:srgbClr val="2C2D30"/>
                </a:solidFill>
              </a:rPr>
              <a:t>2</a:t>
            </a:r>
            <a:r>
              <a:rPr lang="en-US" sz="1600">
                <a:solidFill>
                  <a:srgbClr val="2C2D30"/>
                </a:solidFill>
              </a:rPr>
              <a:t>) / лучшее время O(n)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Устойчивость (стабильность):	Устойчивая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Тип (категория):				Вставками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Потребление памяти:			Не требует доп.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вставками</a:t>
            </a:r>
            <a:endParaRPr/>
          </a:p>
        </p:txBody>
      </p:sp>
      <p:sp>
        <p:nvSpPr>
          <p:cNvPr id="174" name="Google Shape;174;p32"/>
          <p:cNvSpPr/>
          <p:nvPr/>
        </p:nvSpPr>
        <p:spPr>
          <a:xfrm>
            <a:off x="1142375" y="1394025"/>
            <a:ext cx="68544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Из массива последовательно берется каждый элемент, кроме первого (index == 0).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И вставляется в отсортированную часть массива.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180" name="Google Shape;180;p33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вставками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186" name="Google Shape;186;p34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Шелла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Шелла</a:t>
            </a:r>
            <a:endParaRPr/>
          </a:p>
        </p:txBody>
      </p:sp>
      <p:sp>
        <p:nvSpPr>
          <p:cNvPr id="192" name="Google Shape;192;p35"/>
          <p:cNvSpPr/>
          <p:nvPr/>
        </p:nvSpPr>
        <p:spPr>
          <a:xfrm>
            <a:off x="1142375" y="1380300"/>
            <a:ext cx="68544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Сложность: 					O(n</a:t>
            </a:r>
            <a:r>
              <a:rPr baseline="30000" lang="en-US" sz="1600">
                <a:solidFill>
                  <a:srgbClr val="2C2D30"/>
                </a:solidFill>
              </a:rPr>
              <a:t>2</a:t>
            </a:r>
            <a:r>
              <a:rPr lang="en-US" sz="1600">
                <a:solidFill>
                  <a:srgbClr val="2C2D30"/>
                </a:solidFill>
              </a:rPr>
              <a:t>)  /  </a:t>
            </a:r>
            <a:r>
              <a:rPr lang="en-US" sz="1600">
                <a:solidFill>
                  <a:srgbClr val="2C2D30"/>
                </a:solidFill>
              </a:rPr>
              <a:t>O(n (log n)</a:t>
            </a:r>
            <a:r>
              <a:rPr baseline="30000" lang="en-US" sz="1600">
                <a:solidFill>
                  <a:srgbClr val="2C2D30"/>
                </a:solidFill>
              </a:rPr>
              <a:t>2</a:t>
            </a:r>
            <a:r>
              <a:rPr lang="en-US" sz="1600">
                <a:solidFill>
                  <a:srgbClr val="2C2D30"/>
                </a:solidFill>
              </a:rPr>
              <a:t>) или O(n</a:t>
            </a:r>
            <a:r>
              <a:rPr baseline="30000" lang="en-US" sz="1600">
                <a:solidFill>
                  <a:srgbClr val="2C2D30"/>
                </a:solidFill>
              </a:rPr>
              <a:t>3/2</a:t>
            </a:r>
            <a:r>
              <a:rPr lang="en-US" sz="1600">
                <a:solidFill>
                  <a:srgbClr val="2C2D30"/>
                </a:solidFill>
              </a:rPr>
              <a:t>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Устойчивость (стабильность):	Неустойчивая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Тип (категория):				Вставками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Потребление памяти:			Не требует доп.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Шелла</a:t>
            </a:r>
            <a:endParaRPr/>
          </a:p>
        </p:txBody>
      </p:sp>
      <p:sp>
        <p:nvSpPr>
          <p:cNvPr id="198" name="Google Shape;198;p36"/>
          <p:cNvSpPr/>
          <p:nvPr/>
        </p:nvSpPr>
        <p:spPr>
          <a:xfrm>
            <a:off x="1142375" y="1394025"/>
            <a:ext cx="68544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Выбираем шаг для сравнения элементов </a:t>
            </a:r>
            <a:r>
              <a:rPr lang="en-US" sz="1600">
                <a:solidFill>
                  <a:srgbClr val="2C2D30"/>
                </a:solidFill>
              </a:rPr>
              <a:t>(increment).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Сравниваем последовательно элементы массива находящиеся один от другого на расстоянии шага.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Уменьшаем шаг и повторяем пункт два.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Шаг (increment)</a:t>
            </a:r>
            <a:endParaRPr/>
          </a:p>
        </p:txBody>
      </p:sp>
      <p:sp>
        <p:nvSpPr>
          <p:cNvPr id="204" name="Google Shape;204;p37"/>
          <p:cNvSpPr/>
          <p:nvPr/>
        </p:nvSpPr>
        <p:spPr>
          <a:xfrm>
            <a:off x="1142375" y="1394025"/>
            <a:ext cx="68544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>
                <a:solidFill>
                  <a:srgbClr val="2C2D30"/>
                </a:solidFill>
              </a:rPr>
              <a:t>1, 4, 10, 23, 57, 132, 301, 701, 1750</a:t>
            </a:r>
            <a:endParaRPr sz="30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210" name="Google Shape;210;p38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Шелла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216" name="Google Shape;216;p39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Быстрая сортировка. Сортировка Хоара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Сэр Чарльз Энтони Ричард Хоар</a:t>
            </a:r>
            <a:endParaRPr/>
          </a:p>
        </p:txBody>
      </p:sp>
      <p:sp>
        <p:nvSpPr>
          <p:cNvPr id="222" name="Google Shape;222;p40"/>
          <p:cNvSpPr/>
          <p:nvPr/>
        </p:nvSpPr>
        <p:spPr>
          <a:xfrm>
            <a:off x="3916500" y="1574850"/>
            <a:ext cx="43596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Чарльз Хоар - автор алгоритма Быстрой сортировки.</a:t>
            </a:r>
            <a:endParaRPr sz="1600">
              <a:solidFill>
                <a:srgbClr val="2C2D3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Алгоритм был разработан в 1960 во время обучения в МГУ.</a:t>
            </a:r>
            <a:endParaRPr sz="1600">
              <a:solidFill>
                <a:srgbClr val="2C2D30"/>
              </a:solidFill>
            </a:endParaRPr>
          </a:p>
        </p:txBody>
      </p:sp>
      <p:pic>
        <p:nvPicPr>
          <p:cNvPr id="223" name="Google Shape;2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900" y="1574850"/>
            <a:ext cx="2705700" cy="27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быстрой сортировки </a:t>
            </a:r>
            <a:endParaRPr/>
          </a:p>
        </p:txBody>
      </p:sp>
      <p:sp>
        <p:nvSpPr>
          <p:cNvPr id="229" name="Google Shape;229;p41"/>
          <p:cNvSpPr/>
          <p:nvPr/>
        </p:nvSpPr>
        <p:spPr>
          <a:xfrm>
            <a:off x="1142375" y="1380300"/>
            <a:ext cx="68544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Сложность: 					O(n</a:t>
            </a:r>
            <a:r>
              <a:rPr baseline="30000" lang="en-US" sz="1600">
                <a:solidFill>
                  <a:srgbClr val="2C2D30"/>
                </a:solidFill>
              </a:rPr>
              <a:t>2</a:t>
            </a:r>
            <a:r>
              <a:rPr lang="en-US" sz="1600">
                <a:solidFill>
                  <a:srgbClr val="2C2D30"/>
                </a:solidFill>
              </a:rPr>
              <a:t>)  /  O(n log</a:t>
            </a:r>
            <a:r>
              <a:rPr lang="en-US" sz="1600">
                <a:solidFill>
                  <a:srgbClr val="2C2D30"/>
                </a:solidFill>
              </a:rPr>
              <a:t> n)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Устойчивость (стабильность):	Неустойчивая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Тип (категория):				</a:t>
            </a:r>
            <a:r>
              <a:rPr lang="en-US" sz="1600">
                <a:solidFill>
                  <a:srgbClr val="2C2D30"/>
                </a:solidFill>
              </a:rPr>
              <a:t>Обменная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Потребление памяти:			O(n) / Не требует доп.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</a:t>
            </a:r>
            <a:r>
              <a:rPr lang="en-US" sz="3200">
                <a:solidFill>
                  <a:srgbClr val="4C5D6E"/>
                </a:solidFill>
              </a:rPr>
              <a:t>быстрой </a:t>
            </a:r>
            <a:r>
              <a:rPr lang="en-US" sz="3200">
                <a:solidFill>
                  <a:srgbClr val="4C5D6E"/>
                </a:solidFill>
              </a:rPr>
              <a:t>сортировки</a:t>
            </a:r>
            <a:endParaRPr/>
          </a:p>
        </p:txBody>
      </p:sp>
      <p:sp>
        <p:nvSpPr>
          <p:cNvPr id="235" name="Google Shape;235;p42"/>
          <p:cNvSpPr/>
          <p:nvPr/>
        </p:nvSpPr>
        <p:spPr>
          <a:xfrm>
            <a:off x="1142375" y="1394025"/>
            <a:ext cx="68544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Выбираем опорный элемент (pivot).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Сравниваем элементы массива с опорным и переставляем их так, чтобы разбить массив на три непрерывных отрезка: «меньшие опорного», «равные» и «большие»</a:t>
            </a:r>
            <a:r>
              <a:rPr lang="en-US" sz="1600">
                <a:solidFill>
                  <a:srgbClr val="2C2D30"/>
                </a:solidFill>
              </a:rPr>
              <a:t>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Для отрезков «меньше» и «больше» рекурсивно выполнить сортировку.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241" name="Google Shape;241;p43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Хоара. Быстрая сортировка.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247" name="Google Shape;247;p44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Разворот массива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по умолчанию в Python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сложных структур с использованием ключа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сортировки Timsort</a:t>
            </a:r>
            <a:endParaRPr/>
          </a:p>
        </p:txBody>
      </p:sp>
      <p:sp>
        <p:nvSpPr>
          <p:cNvPr id="253" name="Google Shape;253;p45"/>
          <p:cNvSpPr/>
          <p:nvPr/>
        </p:nvSpPr>
        <p:spPr>
          <a:xfrm>
            <a:off x="1142375" y="1380300"/>
            <a:ext cx="68544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Сложность: 					O(n log n)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Устойчивость (стабильность):	Устойчивая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Тип (категория):				Гибридная</a:t>
            </a:r>
            <a:br>
              <a:rPr lang="en-US" sz="1600">
                <a:solidFill>
                  <a:srgbClr val="2C2D30"/>
                </a:solidFill>
              </a:rPr>
            </a:br>
            <a:r>
              <a:rPr lang="en-US" sz="1600">
                <a:solidFill>
                  <a:srgbClr val="2C2D30"/>
                </a:solidFill>
              </a:rPr>
              <a:t>							(Вставками + Слиянием)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Потребление памяти:			O(n)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259" name="Google Shape;259;p46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Разворот массива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по умолчанию в Python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Сортировка сложных структур с использованием ключа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Домашнее задание</a:t>
            </a:r>
            <a:endParaRPr/>
          </a:p>
        </p:txBody>
      </p:sp>
      <p:sp>
        <p:nvSpPr>
          <p:cNvPr id="265" name="Google Shape;265;p47"/>
          <p:cNvSpPr/>
          <p:nvPr/>
        </p:nvSpPr>
        <p:spPr>
          <a:xfrm>
            <a:off x="1142375" y="1366575"/>
            <a:ext cx="68544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Отсортировать по убыванию методом «пузырька» одномерный целочисленный массив, заданный случайными числами на промежутке [-100; 100). Вывести на экран исходный и отсортированный массивы. 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Отсортируйте по возрастанию методом слияния одномерный вещественный массив, заданный случайными числами на промежутке [0; 50). Выведите на экран исходный и отсортированный массивы.</a:t>
            </a:r>
            <a:endParaRPr b="1" i="1"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Домашнее задание</a:t>
            </a:r>
            <a:endParaRPr/>
          </a:p>
        </p:txBody>
      </p:sp>
      <p:sp>
        <p:nvSpPr>
          <p:cNvPr id="271" name="Google Shape;271;p48"/>
          <p:cNvSpPr/>
          <p:nvPr/>
        </p:nvSpPr>
        <p:spPr>
          <a:xfrm>
            <a:off x="1142375" y="1380300"/>
            <a:ext cx="6854400" cy="3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 startAt="3"/>
            </a:pPr>
            <a:r>
              <a:rPr lang="en-US" sz="1600">
                <a:solidFill>
                  <a:srgbClr val="2C2D30"/>
                </a:solidFill>
              </a:rPr>
              <a:t>Массив размером 2m + 1, где m – натуральное число, заполнен случайным образом. Найти в массиве медиану – элемент ряда, делящий его на две равные части: в одной находятся элементы, которые не меньше медианы, в другой – не больше медианы.</a:t>
            </a:r>
            <a:endParaRPr sz="1600">
              <a:solidFill>
                <a:srgbClr val="2C2D30"/>
              </a:solidFill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Примечание: Задачу можно решить без сортировки исходного массива. Но если это слишком сложно, то используйте метод сортировки, который не рассматривался на уроках.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277" name="Google Shape;277;p49"/>
          <p:cNvSpPr/>
          <p:nvPr/>
        </p:nvSpPr>
        <p:spPr>
          <a:xfrm>
            <a:off x="1142375" y="1382050"/>
            <a:ext cx="68544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Разбор домашнего задания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